
<file path=[Content_Types].xml><?xml version="1.0" encoding="utf-8"?>
<Types xmlns="http://schemas.openxmlformats.org/package/2006/content-types">
  <Default Extension="png" ContentType="image/png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9" r:id="rId2"/>
    <p:sldId id="260" r:id="rId3"/>
  </p:sldIdLst>
  <p:sldSz cx="13970000" cy="10795000"/>
  <p:notesSz cx="7099300" cy="102346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951" userDrawn="1">
          <p15:clr>
            <a:srgbClr val="A4A3A4"/>
          </p15:clr>
        </p15:guide>
        <p15:guide id="2" pos="58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4C4C4C"/>
    <a:srgbClr val="757878"/>
    <a:srgbClr val="5B6167"/>
    <a:srgbClr val="F2CB8A"/>
    <a:srgbClr val="BE8323"/>
    <a:srgbClr val="D8D8D8"/>
    <a:srgbClr val="A6AAA9"/>
    <a:srgbClr val="FFFFFF"/>
    <a:srgbClr val="0070C0"/>
    <a:srgbClr val="66727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4615" autoAdjust="0"/>
    <p:restoredTop sz="96343" autoAdjust="0"/>
  </p:normalViewPr>
  <p:slideViewPr>
    <p:cSldViewPr snapToGrid="0">
      <p:cViewPr>
        <p:scale>
          <a:sx n="100" d="100"/>
          <a:sy n="100" d="100"/>
        </p:scale>
        <p:origin x="-78" y="3330"/>
      </p:cViewPr>
      <p:guideLst>
        <p:guide orient="horz" pos="951"/>
        <p:guide pos="58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108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4A1A45B-F66E-48A2-89C5-3AD170776287}" type="datetimeFigureOut">
              <a:rPr lang="da-DK" smtClean="0"/>
              <a:pPr/>
              <a:t>13-09-2025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247FDCC0-BD89-4589-8355-28D22473BEB3}" type="slidenum">
              <a:rPr lang="da-DK" smtClean="0"/>
              <a:pPr/>
              <a:t>‹N°›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xmlns="" val="1358073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068388" y="768350"/>
            <a:ext cx="4962525" cy="3836988"/>
          </a:xfrm>
          <a:prstGeom prst="rect">
            <a:avLst/>
          </a:prstGeom>
        </p:spPr>
        <p:txBody>
          <a:bodyPr lIns="99048" tIns="49524" rIns="99048" bIns="49524"/>
          <a:lstStyle/>
          <a:p>
            <a:endParaRPr dirty="0"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46574" y="4861441"/>
            <a:ext cx="5206153" cy="4605576"/>
          </a:xfrm>
          <a:prstGeom prst="rect">
            <a:avLst/>
          </a:prstGeom>
        </p:spPr>
        <p:txBody>
          <a:bodyPr lIns="99048" tIns="49524" rIns="99048" bIns="49524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81792356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1068388" y="768350"/>
            <a:ext cx="4962525" cy="3836988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xmlns="" val="3787924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1068388" y="768350"/>
            <a:ext cx="4962525" cy="3836988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xmlns="" val="338885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/>
              <a:pPr/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hyperlink" Target="https://cran.r-project.org/web/packages/data.table/data.table.pdf" TargetMode="External"/><Relationship Id="rId4" Type="http://schemas.openxmlformats.org/officeDocument/2006/relationships/hyperlink" Target="https://github.com/Rdatatable/data.table/wiki/Getting-starte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ran.r-project.org/web/packages/data.table/data.table.pdf" TargetMode="External"/><Relationship Id="rId5" Type="http://schemas.openxmlformats.org/officeDocument/2006/relationships/hyperlink" Target="https://github.com/Rdatatable/data.table/wiki/Getting-started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6DA5DEF8-AA7C-8A4B-ACFE-A4A6453056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29"/>
          <a:stretch/>
        </p:blipFill>
        <p:spPr>
          <a:xfrm>
            <a:off x="8393600" y="0"/>
            <a:ext cx="5576400" cy="1992971"/>
          </a:xfrm>
          <a:prstGeom prst="rect">
            <a:avLst/>
          </a:prstGeom>
        </p:spPr>
      </p:pic>
      <p:sp>
        <p:nvSpPr>
          <p:cNvPr id="274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949494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76" name="Group"/>
          <p:cNvSpPr/>
          <p:nvPr/>
        </p:nvSpPr>
        <p:spPr>
          <a:xfrm>
            <a:off x="289898" y="1523999"/>
            <a:ext cx="4320000" cy="3121453"/>
          </a:xfrm>
          <a:prstGeom prst="rect">
            <a:avLst/>
          </a:prstGeom>
          <a:solidFill>
            <a:srgbClr val="F3F3F3"/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95" name="Basics"/>
          <p:cNvSpPr txBox="1"/>
          <p:nvPr/>
        </p:nvSpPr>
        <p:spPr>
          <a:xfrm>
            <a:off x="420972" y="1619308"/>
            <a:ext cx="1485984" cy="3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da-DK" dirty="0">
                <a:solidFill>
                  <a:schemeClr val="tx1">
                    <a:lumMod val="50000"/>
                  </a:schemeClr>
                </a:solidFill>
              </a:rPr>
              <a:t>Les bases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98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275721" y="10347903"/>
            <a:ext cx="13400517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fr-FR" dirty="0">
                <a:solidFill>
                  <a:srgbClr val="5B6167"/>
                </a:solidFill>
              </a:rPr>
              <a:t>Créé par Erik </a:t>
            </a:r>
            <a:r>
              <a:rPr lang="fr-FR" dirty="0" err="1">
                <a:solidFill>
                  <a:srgbClr val="5B6167"/>
                </a:solidFill>
              </a:rPr>
              <a:t>Petrovsky</a:t>
            </a:r>
            <a:r>
              <a:rPr lang="fr-FR" dirty="0">
                <a:solidFill>
                  <a:srgbClr val="5B6167"/>
                </a:solidFill>
              </a:rPr>
              <a:t> </a:t>
            </a:r>
            <a:r>
              <a:rPr lang="fr-FR" dirty="0" smtClean="0">
                <a:solidFill>
                  <a:srgbClr val="5B6167"/>
                </a:solidFill>
              </a:rPr>
              <a:t>et </a:t>
            </a:r>
            <a:r>
              <a:rPr lang="fr-FR" dirty="0" err="1">
                <a:solidFill>
                  <a:srgbClr val="5B6167"/>
                </a:solidFill>
              </a:rPr>
              <a:t>Mara</a:t>
            </a:r>
            <a:r>
              <a:rPr lang="fr-FR" dirty="0">
                <a:solidFill>
                  <a:srgbClr val="5B6167"/>
                </a:solidFill>
              </a:rPr>
              <a:t> </a:t>
            </a:r>
            <a:r>
              <a:rPr lang="fr-FR" dirty="0" err="1">
                <a:solidFill>
                  <a:srgbClr val="5B6167"/>
                </a:solidFill>
              </a:rPr>
              <a:t>Destefanis</a:t>
            </a:r>
            <a:r>
              <a:rPr lang="fr-FR" dirty="0">
                <a:solidFill>
                  <a:srgbClr val="5B6167"/>
                </a:solidFill>
              </a:rPr>
              <a:t> – maragdestefanis@gmail.com</a:t>
            </a:r>
            <a:r>
              <a:rPr lang="fr-FR" dirty="0">
                <a:solidFill>
                  <a:srgbClr val="757878"/>
                </a:solidFill>
              </a:rPr>
              <a:t> </a:t>
            </a:r>
            <a:r>
              <a:rPr lang="fr-FR" dirty="0">
                <a:solidFill>
                  <a:srgbClr val="5B6167"/>
                </a:solidFill>
              </a:rPr>
              <a:t>• Traduit par Christian </a:t>
            </a:r>
            <a:r>
              <a:rPr lang="fr-FR" dirty="0" err="1">
                <a:solidFill>
                  <a:srgbClr val="5B6167"/>
                </a:solidFill>
              </a:rPr>
              <a:t>Wiat</a:t>
            </a:r>
            <a:r>
              <a:rPr lang="fr-FR" dirty="0">
                <a:solidFill>
                  <a:srgbClr val="5B6167"/>
                </a:solidFill>
              </a:rPr>
              <a:t> – </a:t>
            </a:r>
            <a:r>
              <a:rPr lang="fr-FR" dirty="0" smtClean="0">
                <a:solidFill>
                  <a:srgbClr val="5B6167"/>
                </a:solidFill>
              </a:rPr>
              <a:t>w9204-rs@yahoo.com </a:t>
            </a:r>
            <a:r>
              <a:rPr lang="fr-FR" dirty="0">
                <a:solidFill>
                  <a:srgbClr val="5B6167"/>
                </a:solidFill>
              </a:rPr>
              <a:t>• </a:t>
            </a:r>
            <a:r>
              <a:rPr lang="fr-FR" dirty="0" smtClean="0">
                <a:solidFill>
                  <a:srgbClr val="5B6167"/>
                </a:solidFill>
              </a:rPr>
              <a:t>Voir la </a:t>
            </a:r>
            <a:r>
              <a:rPr lang="fr-FR" dirty="0">
                <a:solidFill>
                  <a:srgbClr val="5B6167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page d’accueil</a:t>
            </a:r>
            <a:r>
              <a:rPr lang="fr-FR" dirty="0">
                <a:solidFill>
                  <a:srgbClr val="5B6167"/>
                </a:solidFill>
              </a:rPr>
              <a:t> ou la </a:t>
            </a:r>
            <a:r>
              <a:rPr lang="fr-FR" dirty="0">
                <a:solidFill>
                  <a:srgbClr val="5B6167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vignette</a:t>
            </a:r>
            <a:r>
              <a:rPr lang="fr-FR" dirty="0">
                <a:solidFill>
                  <a:srgbClr val="5B6167"/>
                </a:solidFill>
              </a:rPr>
              <a:t> de </a:t>
            </a:r>
            <a:r>
              <a:rPr lang="fr-FR" dirty="0" err="1">
                <a:solidFill>
                  <a:srgbClr val="5B6167"/>
                </a:solidFill>
              </a:rPr>
              <a:t>data.table</a:t>
            </a:r>
            <a:r>
              <a:rPr lang="fr-FR" dirty="0">
                <a:solidFill>
                  <a:srgbClr val="5B6167"/>
                </a:solidFill>
              </a:rPr>
              <a:t> • </a:t>
            </a:r>
            <a:r>
              <a:rPr lang="fr-FR" dirty="0" err="1">
                <a:solidFill>
                  <a:srgbClr val="5B6167"/>
                </a:solidFill>
              </a:rPr>
              <a:t>data.table</a:t>
            </a:r>
            <a:r>
              <a:rPr lang="fr-FR" dirty="0">
                <a:solidFill>
                  <a:srgbClr val="5B6167"/>
                </a:solidFill>
              </a:rPr>
              <a:t> version </a:t>
            </a:r>
            <a:r>
              <a:rPr lang="fr-FR" dirty="0" smtClean="0">
                <a:solidFill>
                  <a:srgbClr val="5B6167"/>
                </a:solidFill>
              </a:rPr>
              <a:t>1.17.8 </a:t>
            </a:r>
            <a:r>
              <a:rPr lang="fr-FR" dirty="0">
                <a:solidFill>
                  <a:srgbClr val="5B6167"/>
                </a:solidFill>
              </a:rPr>
              <a:t>• Mise-à-jour: </a:t>
            </a:r>
            <a:r>
              <a:rPr lang="fr-FR" dirty="0" smtClean="0">
                <a:solidFill>
                  <a:srgbClr val="5B6167"/>
                </a:solidFill>
              </a:rPr>
              <a:t>2025-07 • </a:t>
            </a:r>
            <a:r>
              <a:rPr lang="fr-FR" dirty="0" smtClean="0">
                <a:solidFill>
                  <a:srgbClr val="5B6167"/>
                </a:solidFill>
              </a:rPr>
              <a:t>traduction 2025-09</a:t>
            </a:r>
            <a:endParaRPr lang="fr-FR" dirty="0">
              <a:solidFill>
                <a:srgbClr val="5B6167"/>
              </a:solidFill>
            </a:endParaRPr>
          </a:p>
        </p:txBody>
      </p:sp>
      <p:sp>
        <p:nvSpPr>
          <p:cNvPr id="312" name="Three Column Layout: : CHEAT SHEET"/>
          <p:cNvSpPr txBox="1">
            <a:spLocks noGrp="1"/>
          </p:cNvSpPr>
          <p:nvPr>
            <p:ph type="title"/>
          </p:nvPr>
        </p:nvSpPr>
        <p:spPr>
          <a:xfrm>
            <a:off x="275721" y="552307"/>
            <a:ext cx="12021054" cy="61221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lvl="1" indent="0" hangingPunct="0">
              <a:lnSpc>
                <a:spcPct val="90000"/>
              </a:lnSpc>
              <a:spcBef>
                <a:spcPts val="200"/>
              </a:spcBef>
            </a:pPr>
            <a:r>
              <a:rPr lang="da-DK" sz="4000" dirty="0">
                <a:latin typeface="+mj-lt"/>
              </a:rPr>
              <a:t>Transformer les données avec data.table </a:t>
            </a:r>
            <a:r>
              <a:rPr sz="3600" b="1" dirty="0"/>
              <a:t>:</a:t>
            </a:r>
            <a:r>
              <a:rPr lang="da-DK" sz="3600" b="1" dirty="0"/>
              <a:t> </a:t>
            </a:r>
            <a:r>
              <a:rPr sz="3600" b="1" dirty="0"/>
              <a:t>:</a:t>
            </a:r>
            <a:r>
              <a:rPr lang="fr-FR" sz="2400" b="1" dirty="0"/>
              <a:t> </a:t>
            </a:r>
            <a:r>
              <a:rPr sz="2400" b="1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</a:t>
            </a:r>
            <a:r>
              <a:rPr lang="fr-FR" sz="2400" b="1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OMPENDIUM</a:t>
            </a:r>
            <a:r>
              <a:rPr sz="2400" b="1" dirty="0"/>
              <a:t> </a:t>
            </a:r>
          </a:p>
        </p:txBody>
      </p:sp>
      <p:sp>
        <p:nvSpPr>
          <p:cNvPr id="344" name="Line"/>
          <p:cNvSpPr/>
          <p:nvPr/>
        </p:nvSpPr>
        <p:spPr>
          <a:xfrm>
            <a:off x="4834526" y="1530349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45" name="Line"/>
          <p:cNvSpPr/>
          <p:nvPr/>
        </p:nvSpPr>
        <p:spPr>
          <a:xfrm>
            <a:off x="9357554" y="6896034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95" name="Logistics"/>
          <p:cNvSpPr txBox="1"/>
          <p:nvPr/>
        </p:nvSpPr>
        <p:spPr>
          <a:xfrm>
            <a:off x="4834526" y="1621986"/>
            <a:ext cx="3906519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fr-FR" dirty="0">
                <a:solidFill>
                  <a:srgbClr val="393939"/>
                </a:solidFill>
              </a:rPr>
              <a:t>Manipuler les colonnes avec </a:t>
            </a:r>
            <a:r>
              <a:rPr lang="fr-FR" dirty="0">
                <a:solidFill>
                  <a:srgbClr val="196CA7"/>
                </a:solidFill>
              </a:rPr>
              <a:t>j</a:t>
            </a:r>
          </a:p>
        </p:txBody>
      </p:sp>
      <p:sp>
        <p:nvSpPr>
          <p:cNvPr id="396" name="Useful Elements"/>
          <p:cNvSpPr txBox="1"/>
          <p:nvPr/>
        </p:nvSpPr>
        <p:spPr>
          <a:xfrm>
            <a:off x="9357554" y="7005876"/>
            <a:ext cx="4320346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fr-FR" dirty="0">
                <a:solidFill>
                  <a:srgbClr val="393939"/>
                </a:solidFill>
              </a:rPr>
              <a:t>Fonctions pour les </a:t>
            </a:r>
            <a:r>
              <a:rPr lang="fr-FR" dirty="0" err="1">
                <a:solidFill>
                  <a:srgbClr val="393939"/>
                </a:solidFill>
              </a:rPr>
              <a:t>data.tables</a:t>
            </a:r>
            <a:endParaRPr lang="fr-FR" dirty="0">
              <a:solidFill>
                <a:srgbClr val="393939"/>
              </a:solidFill>
            </a:endParaRPr>
          </a:p>
        </p:txBody>
      </p:sp>
      <p:sp>
        <p:nvSpPr>
          <p:cNvPr id="141" name="Thank you for making a new cheatsheet for R! These cheatsheets have an important job:"/>
          <p:cNvSpPr txBox="1"/>
          <p:nvPr/>
        </p:nvSpPr>
        <p:spPr>
          <a:xfrm>
            <a:off x="420973" y="1981831"/>
            <a:ext cx="4099780" cy="2574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noAutofit/>
          </a:bodyPr>
          <a:lstStyle/>
          <a:p>
            <a:pPr lvl="1" indent="0">
              <a:lnSpc>
                <a:spcPct val="90000"/>
              </a:lnSpc>
            </a:pPr>
            <a:r>
              <a:rPr lang="fr-FR" sz="1150" b="0" dirty="0" err="1">
                <a:solidFill>
                  <a:srgbClr val="000000"/>
                </a:solidFill>
                <a:cs typeface="Arial" panose="020B0604020202020204" pitchFamily="34" charset="0"/>
              </a:rPr>
              <a:t>data.table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 est un package très rapide et performant en gestion de la mémoire pour transformer des données avec </a:t>
            </a:r>
            <a:r>
              <a:rPr lang="fr-FR" sz="1150" b="0" dirty="0" smtClean="0">
                <a:solidFill>
                  <a:srgbClr val="000000"/>
                </a:solidFill>
                <a:cs typeface="Arial" panose="020B0604020202020204" pitchFamily="34" charset="0"/>
              </a:rPr>
              <a:t>R avec une syntaxe concise. 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Il convertit les objets </a:t>
            </a:r>
            <a:r>
              <a:rPr lang="fr-FR" sz="1150" b="0" dirty="0" err="1">
                <a:solidFill>
                  <a:srgbClr val="000000"/>
                </a:solidFill>
                <a:cs typeface="Arial" panose="020B0604020202020204" pitchFamily="34" charset="0"/>
              </a:rPr>
              <a:t>data.frame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 natifs de R en </a:t>
            </a:r>
            <a:r>
              <a:rPr lang="fr-FR" sz="1150" b="0" dirty="0" err="1">
                <a:solidFill>
                  <a:srgbClr val="000000"/>
                </a:solidFill>
                <a:cs typeface="Arial" panose="020B0604020202020204" pitchFamily="34" charset="0"/>
              </a:rPr>
              <a:t>data.table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 avec des fonctionnalités nouvelles et étendues. Les bases pour utiliser </a:t>
            </a:r>
            <a:r>
              <a:rPr lang="fr-FR" sz="1150" b="0" dirty="0" err="1">
                <a:solidFill>
                  <a:srgbClr val="000000"/>
                </a:solidFill>
                <a:cs typeface="Arial" panose="020B0604020202020204" pitchFamily="34" charset="0"/>
              </a:rPr>
              <a:t>data.table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 sont:</a:t>
            </a:r>
          </a:p>
          <a:p>
            <a:pPr lvl="1" indent="0">
              <a:lnSpc>
                <a:spcPct val="90000"/>
              </a:lnSpc>
              <a:defRPr b="0">
                <a:solidFill>
                  <a:srgbClr val="000000"/>
                </a:solidFill>
              </a:defRPr>
            </a:pPr>
            <a:endParaRPr lang="fr-FR" b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 indent="0" algn="ctr">
              <a:lnSpc>
                <a:spcPct val="90000"/>
              </a:lnSpc>
            </a:pPr>
            <a:r>
              <a:rPr lang="fr-FR" sz="1600" dirty="0" err="1">
                <a:solidFill>
                  <a:srgbClr val="000000"/>
                </a:solidFill>
                <a:cs typeface="Arial" panose="020B0604020202020204" pitchFamily="34" charset="0"/>
              </a:rPr>
              <a:t>dt</a:t>
            </a:r>
            <a:r>
              <a:rPr lang="fr-FR" sz="1600" dirty="0">
                <a:cs typeface="Arial" panose="020B0604020202020204" pitchFamily="34" charset="0"/>
              </a:rPr>
              <a:t>[</a:t>
            </a:r>
            <a:r>
              <a:rPr lang="fr-FR" sz="1600" dirty="0">
                <a:solidFill>
                  <a:srgbClr val="119571"/>
                </a:solidFill>
                <a:cs typeface="Arial" panose="020B0604020202020204" pitchFamily="34" charset="0"/>
              </a:rPr>
              <a:t>i</a:t>
            </a:r>
            <a:r>
              <a:rPr lang="fr-FR" sz="1600" dirty="0">
                <a:cs typeface="Arial" panose="020B0604020202020204" pitchFamily="34" charset="0"/>
              </a:rPr>
              <a:t>, </a:t>
            </a:r>
            <a:r>
              <a:rPr lang="fr-FR" sz="1600" dirty="0">
                <a:solidFill>
                  <a:srgbClr val="0070C0"/>
                </a:solidFill>
                <a:cs typeface="Arial" panose="020B0604020202020204" pitchFamily="34" charset="0"/>
              </a:rPr>
              <a:t>j</a:t>
            </a:r>
            <a:r>
              <a:rPr lang="fr-FR" sz="1600" dirty="0">
                <a:cs typeface="Arial" panose="020B0604020202020204" pitchFamily="34" charset="0"/>
              </a:rPr>
              <a:t>, </a:t>
            </a:r>
            <a:r>
              <a:rPr lang="fr-FR" sz="1600" dirty="0">
                <a:solidFill>
                  <a:srgbClr val="B74919"/>
                </a:solidFill>
                <a:cs typeface="Arial" panose="020B0604020202020204" pitchFamily="34" charset="0"/>
              </a:rPr>
              <a:t>by</a:t>
            </a:r>
            <a:r>
              <a:rPr lang="fr-FR" sz="1600" dirty="0">
                <a:cs typeface="Arial" panose="020B0604020202020204" pitchFamily="34" charset="0"/>
              </a:rPr>
              <a:t>]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endParaRPr lang="fr-FR" dirty="0">
              <a:cs typeface="Arial" panose="020B0604020202020204" pitchFamily="34" charset="0"/>
            </a:endParaRPr>
          </a:p>
          <a:p>
            <a:pPr lvl="1" indent="0" algn="ctr">
              <a:lnSpc>
                <a:spcPct val="90000"/>
              </a:lnSpc>
            </a:pP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Objet </a:t>
            </a:r>
            <a:r>
              <a:rPr lang="fr-FR" sz="1150" b="0" dirty="0" err="1">
                <a:solidFill>
                  <a:srgbClr val="000000"/>
                </a:solidFill>
                <a:cs typeface="Arial" panose="020B0604020202020204" pitchFamily="34" charset="0"/>
              </a:rPr>
              <a:t>data.table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fr-FR" sz="1150" dirty="0" err="1">
                <a:solidFill>
                  <a:srgbClr val="000000"/>
                </a:solidFill>
                <a:cs typeface="Arial" panose="020B0604020202020204" pitchFamily="34" charset="0"/>
              </a:rPr>
              <a:t>dt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</a:p>
          <a:p>
            <a:pPr lvl="1" indent="0" algn="ctr">
              <a:lnSpc>
                <a:spcPct val="90000"/>
              </a:lnSpc>
            </a:pP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Extraction des lignes avec </a:t>
            </a:r>
            <a:r>
              <a:rPr lang="fr-FR" sz="1150" dirty="0">
                <a:solidFill>
                  <a:srgbClr val="119571"/>
                </a:solidFill>
                <a:cs typeface="Arial" panose="020B0604020202020204" pitchFamily="34" charset="0"/>
              </a:rPr>
              <a:t>i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  <a:p>
            <a:pPr lvl="1" indent="0" algn="ctr">
              <a:lnSpc>
                <a:spcPct val="90000"/>
              </a:lnSpc>
            </a:pP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et manipulation des colonnes avec </a:t>
            </a:r>
            <a:r>
              <a:rPr lang="fr-FR" sz="1150" dirty="0">
                <a:solidFill>
                  <a:srgbClr val="0070C0"/>
                </a:solidFill>
                <a:cs typeface="Arial" panose="020B0604020202020204" pitchFamily="34" charset="0"/>
              </a:rPr>
              <a:t>j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</a:p>
          <a:p>
            <a:pPr lvl="1" indent="0" algn="ctr">
              <a:lnSpc>
                <a:spcPct val="90000"/>
              </a:lnSpc>
            </a:pP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avec un regroupement selon </a:t>
            </a:r>
            <a:r>
              <a:rPr lang="fr-FR" sz="1150" dirty="0">
                <a:solidFill>
                  <a:srgbClr val="B74919"/>
                </a:solidFill>
                <a:cs typeface="Arial" panose="020B0604020202020204" pitchFamily="34" charset="0"/>
              </a:rPr>
              <a:t>by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fr-FR" sz="1150" b="0" dirty="0">
              <a:solidFill>
                <a:srgbClr val="000000"/>
              </a:solidFill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endParaRPr lang="fr-FR" dirty="0">
              <a:cs typeface="Arial" panose="020B0604020202020204" pitchFamily="34" charset="0"/>
            </a:endParaRPr>
          </a:p>
          <a:p>
            <a:pPr lvl="1" indent="0">
              <a:lnSpc>
                <a:spcPct val="90000"/>
              </a:lnSpc>
            </a:pP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Les </a:t>
            </a:r>
            <a:r>
              <a:rPr lang="fr-FR" sz="1150" b="0" dirty="0" err="1">
                <a:solidFill>
                  <a:srgbClr val="000000"/>
                </a:solidFill>
                <a:cs typeface="Arial" panose="020B0604020202020204" pitchFamily="34" charset="0"/>
              </a:rPr>
              <a:t>data.tables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 sont aussi des </a:t>
            </a:r>
            <a:r>
              <a:rPr lang="fr-FR" sz="1150" b="0" dirty="0" err="1">
                <a:solidFill>
                  <a:srgbClr val="000000"/>
                </a:solidFill>
                <a:cs typeface="Arial" panose="020B0604020202020204" pitchFamily="34" charset="0"/>
              </a:rPr>
              <a:t>data.frames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 – les fonctions qui opèrent sur des </a:t>
            </a:r>
            <a:r>
              <a:rPr lang="fr-FR" sz="1150" b="0" dirty="0" err="1">
                <a:solidFill>
                  <a:srgbClr val="000000"/>
                </a:solidFill>
                <a:cs typeface="Arial" panose="020B0604020202020204" pitchFamily="34" charset="0"/>
              </a:rPr>
              <a:t>data.frames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 sont utilisables sur les </a:t>
            </a:r>
            <a:r>
              <a:rPr lang="fr-FR" sz="1150" b="0" dirty="0" err="1">
                <a:solidFill>
                  <a:srgbClr val="000000"/>
                </a:solidFill>
                <a:cs typeface="Arial" panose="020B0604020202020204" pitchFamily="34" charset="0"/>
              </a:rPr>
              <a:t>data.tables</a:t>
            </a:r>
            <a:r>
              <a:rPr lang="fr-FR" sz="1150" b="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fr-FR" sz="1150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43" name="Use headers, colors, and/or backgrounds to separate or group together sections."/>
          <p:cNvSpPr txBox="1"/>
          <p:nvPr/>
        </p:nvSpPr>
        <p:spPr>
          <a:xfrm>
            <a:off x="289898" y="5500494"/>
            <a:ext cx="4211596" cy="100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5400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dirty="0" err="1">
                <a:solidFill>
                  <a:srgbClr val="000000"/>
                </a:solidFill>
              </a:rPr>
              <a:t>data.table</a:t>
            </a:r>
            <a:r>
              <a:rPr lang="fr-FR" dirty="0">
                <a:solidFill>
                  <a:srgbClr val="000000"/>
                </a:solidFill>
              </a:rPr>
              <a:t>(</a:t>
            </a:r>
            <a:r>
              <a:rPr lang="fr-FR" b="0" dirty="0">
                <a:solidFill>
                  <a:srgbClr val="000000"/>
                </a:solidFill>
              </a:rPr>
              <a:t>a = c(1, 2), b = c("a", "b")</a:t>
            </a:r>
            <a:r>
              <a:rPr lang="fr-FR" dirty="0">
                <a:solidFill>
                  <a:srgbClr val="000000"/>
                </a:solidFill>
              </a:rPr>
              <a:t>)</a:t>
            </a:r>
            <a:r>
              <a:rPr lang="fr-FR" b="0" dirty="0">
                <a:solidFill>
                  <a:srgbClr val="000000"/>
                </a:solidFill>
              </a:rPr>
              <a:t> – crée </a:t>
            </a:r>
            <a:r>
              <a:rPr lang="fr-FR" b="0" dirty="0" smtClean="0">
                <a:solidFill>
                  <a:srgbClr val="000000"/>
                </a:solidFill>
              </a:rPr>
              <a:t>un </a:t>
            </a:r>
            <a:r>
              <a:rPr lang="fr-FR" b="0" dirty="0" err="1">
                <a:solidFill>
                  <a:srgbClr val="000000"/>
                </a:solidFill>
              </a:rPr>
              <a:t>data.table</a:t>
            </a:r>
            <a:r>
              <a:rPr lang="fr-FR" b="0" dirty="0">
                <a:solidFill>
                  <a:srgbClr val="000000"/>
                </a:solidFill>
              </a:rPr>
              <a:t> en partant de rien. Similaire à </a:t>
            </a:r>
            <a:r>
              <a:rPr lang="fr-FR" b="0" dirty="0" err="1">
                <a:solidFill>
                  <a:srgbClr val="000000"/>
                </a:solidFill>
              </a:rPr>
              <a:t>data.frame</a:t>
            </a:r>
            <a:r>
              <a:rPr lang="fr-FR" b="0" dirty="0">
                <a:solidFill>
                  <a:srgbClr val="000000"/>
                </a:solidFill>
              </a:rPr>
              <a:t>()</a:t>
            </a: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fr-FR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fr-FR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fr-FR" dirty="0" err="1">
                <a:solidFill>
                  <a:srgbClr val="000000"/>
                </a:solidFill>
              </a:rPr>
              <a:t>setDT</a:t>
            </a:r>
            <a:r>
              <a:rPr lang="fr-FR" dirty="0">
                <a:solidFill>
                  <a:srgbClr val="000000"/>
                </a:solidFill>
              </a:rPr>
              <a:t>(</a:t>
            </a:r>
            <a:r>
              <a:rPr lang="fr-FR" b="0" dirty="0" err="1">
                <a:solidFill>
                  <a:srgbClr val="000000"/>
                </a:solidFill>
              </a:rPr>
              <a:t>df</a:t>
            </a:r>
            <a:r>
              <a:rPr lang="fr-FR" dirty="0">
                <a:solidFill>
                  <a:srgbClr val="000000"/>
                </a:solidFill>
              </a:rPr>
              <a:t>)</a:t>
            </a:r>
            <a:r>
              <a:rPr lang="fr-FR" b="0" dirty="0">
                <a:solidFill>
                  <a:srgbClr val="000000"/>
                </a:solidFill>
              </a:rPr>
              <a:t>* ou </a:t>
            </a:r>
            <a:r>
              <a:rPr lang="fr-FR" dirty="0" err="1">
                <a:solidFill>
                  <a:srgbClr val="000000"/>
                </a:solidFill>
              </a:rPr>
              <a:t>as.data.table</a:t>
            </a:r>
            <a:r>
              <a:rPr lang="fr-FR" dirty="0">
                <a:solidFill>
                  <a:srgbClr val="000000"/>
                </a:solidFill>
              </a:rPr>
              <a:t>(</a:t>
            </a:r>
            <a:r>
              <a:rPr lang="fr-FR" b="0" dirty="0" err="1">
                <a:solidFill>
                  <a:srgbClr val="000000"/>
                </a:solidFill>
              </a:rPr>
              <a:t>df</a:t>
            </a:r>
            <a:r>
              <a:rPr lang="fr-FR" dirty="0">
                <a:solidFill>
                  <a:srgbClr val="000000"/>
                </a:solidFill>
              </a:rPr>
              <a:t>)</a:t>
            </a:r>
            <a:r>
              <a:rPr lang="fr-FR" b="0" dirty="0">
                <a:solidFill>
                  <a:srgbClr val="000000"/>
                </a:solidFill>
              </a:rPr>
              <a:t> – convertit un </a:t>
            </a:r>
            <a:r>
              <a:rPr lang="fr-FR" b="0" dirty="0" err="1">
                <a:solidFill>
                  <a:srgbClr val="000000"/>
                </a:solidFill>
              </a:rPr>
              <a:t>data.frame</a:t>
            </a:r>
            <a:r>
              <a:rPr lang="fr-FR" b="0" dirty="0">
                <a:solidFill>
                  <a:srgbClr val="000000"/>
                </a:solidFill>
              </a:rPr>
              <a:t> ou une liste en </a:t>
            </a:r>
            <a:r>
              <a:rPr lang="fr-FR" b="0" dirty="0" err="1">
                <a:solidFill>
                  <a:srgbClr val="000000"/>
                </a:solidFill>
              </a:rPr>
              <a:t>data.table</a:t>
            </a:r>
            <a:r>
              <a:rPr lang="fr-FR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44" name="Layout Suggestions"/>
          <p:cNvSpPr txBox="1"/>
          <p:nvPr/>
        </p:nvSpPr>
        <p:spPr>
          <a:xfrm>
            <a:off x="289898" y="5086068"/>
            <a:ext cx="411011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12700" rIns="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fr-FR" dirty="0">
                <a:solidFill>
                  <a:srgbClr val="393939"/>
                </a:solidFill>
              </a:rPr>
              <a:t>Créer </a:t>
            </a:r>
            <a:r>
              <a:rPr lang="fr-FR" dirty="0" smtClean="0">
                <a:solidFill>
                  <a:srgbClr val="393939"/>
                </a:solidFill>
              </a:rPr>
              <a:t>un </a:t>
            </a:r>
            <a:r>
              <a:rPr lang="fr-FR" dirty="0" err="1">
                <a:solidFill>
                  <a:srgbClr val="393939"/>
                </a:solidFill>
              </a:rPr>
              <a:t>data.table</a:t>
            </a:r>
            <a:endParaRPr lang="fr-FR" dirty="0">
              <a:solidFill>
                <a:srgbClr val="393939"/>
              </a:solidFill>
            </a:endParaRPr>
          </a:p>
        </p:txBody>
      </p:sp>
      <p:sp>
        <p:nvSpPr>
          <p:cNvPr id="145" name="Line"/>
          <p:cNvSpPr/>
          <p:nvPr/>
        </p:nvSpPr>
        <p:spPr>
          <a:xfrm>
            <a:off x="289898" y="4983632"/>
            <a:ext cx="4320000" cy="1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46" name="Use headers, colors, and/or backgrounds to separate or group together sections."/>
          <p:cNvSpPr txBox="1"/>
          <p:nvPr/>
        </p:nvSpPr>
        <p:spPr>
          <a:xfrm>
            <a:off x="1647107" y="7355629"/>
            <a:ext cx="2948706" cy="1647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 smtClean="0">
                <a:solidFill>
                  <a:srgbClr val="000000"/>
                </a:solidFill>
              </a:rPr>
              <a:t>dt</a:t>
            </a:r>
            <a:r>
              <a:rPr lang="fr-FR" b="0" dirty="0" smtClean="0">
                <a:solidFill>
                  <a:srgbClr val="000000"/>
                </a:solidFill>
              </a:rPr>
              <a:t>[</a:t>
            </a:r>
            <a:r>
              <a:rPr lang="fr-FR" dirty="0" smtClean="0">
                <a:solidFill>
                  <a:srgbClr val="119571"/>
                </a:solidFill>
              </a:rPr>
              <a:t>1:2</a:t>
            </a:r>
            <a:r>
              <a:rPr lang="fr-FR" b="0" dirty="0" smtClean="0">
                <a:solidFill>
                  <a:srgbClr val="000000"/>
                </a:solidFill>
              </a:rPr>
              <a:t>] </a:t>
            </a:r>
            <a:r>
              <a:rPr lang="fr-FR" b="0" dirty="0">
                <a:solidFill>
                  <a:srgbClr val="000000"/>
                </a:solidFill>
              </a:rPr>
              <a:t>– extraire les lignes en fonction des numéros de lignes</a:t>
            </a:r>
            <a:r>
              <a:rPr lang="fr-FR" b="0" dirty="0" smtClean="0">
                <a:solidFill>
                  <a:srgbClr val="000000"/>
                </a:solidFill>
              </a:rPr>
              <a:t>.</a:t>
            </a:r>
            <a:endParaRPr lang="fr-FR" sz="1000" b="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fr-FR" sz="1000" b="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fr-FR" sz="1000" b="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fr-FR" sz="1000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</a:t>
            </a:r>
            <a:r>
              <a:rPr lang="fr-FR" dirty="0">
                <a:solidFill>
                  <a:srgbClr val="119571"/>
                </a:solidFill>
              </a:rPr>
              <a:t>a &gt; </a:t>
            </a:r>
            <a:r>
              <a:rPr lang="fr-FR" dirty="0" smtClean="0">
                <a:solidFill>
                  <a:srgbClr val="119571"/>
                </a:solidFill>
              </a:rPr>
              <a:t>5</a:t>
            </a:r>
            <a:r>
              <a:rPr lang="fr-FR" b="0" dirty="0" smtClean="0">
                <a:solidFill>
                  <a:srgbClr val="000000"/>
                </a:solidFill>
              </a:rPr>
              <a:t>] </a:t>
            </a:r>
            <a:r>
              <a:rPr lang="fr-FR" b="0" dirty="0">
                <a:solidFill>
                  <a:srgbClr val="000000"/>
                </a:solidFill>
              </a:rPr>
              <a:t>– extraire les lignes en fonction des valeurs contenues dans une ou plusieurs colonnes.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b="0" dirty="0">
              <a:solidFill>
                <a:srgbClr val="000000"/>
              </a:solidFill>
            </a:endParaRPr>
          </a:p>
        </p:txBody>
      </p:sp>
      <p:sp>
        <p:nvSpPr>
          <p:cNvPr id="147" name="Layout Suggestions"/>
          <p:cNvSpPr txBox="1"/>
          <p:nvPr/>
        </p:nvSpPr>
        <p:spPr>
          <a:xfrm>
            <a:off x="289898" y="6861523"/>
            <a:ext cx="4377352" cy="341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14400" rIns="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fr-FR" dirty="0">
                <a:solidFill>
                  <a:srgbClr val="393939"/>
                </a:solidFill>
              </a:rPr>
              <a:t>Extraire des lignes avec </a:t>
            </a:r>
            <a:r>
              <a:rPr lang="fr-FR" dirty="0">
                <a:solidFill>
                  <a:srgbClr val="119571"/>
                </a:solidFill>
              </a:rPr>
              <a:t>i</a:t>
            </a:r>
          </a:p>
        </p:txBody>
      </p:sp>
      <p:sp>
        <p:nvSpPr>
          <p:cNvPr id="148" name="Line"/>
          <p:cNvSpPr/>
          <p:nvPr/>
        </p:nvSpPr>
        <p:spPr>
          <a:xfrm>
            <a:off x="289898" y="6761056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49" name="CODE"/>
          <p:cNvSpPr txBox="1"/>
          <p:nvPr/>
        </p:nvSpPr>
        <p:spPr>
          <a:xfrm>
            <a:off x="289898" y="9207505"/>
            <a:ext cx="3423934" cy="21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12700" rIns="0" bIns="12700" anchor="ctr">
            <a:spAutoFit/>
          </a:bodyPr>
          <a:lstStyle/>
          <a:p>
            <a:pPr lvl="1" indent="0"/>
            <a:r>
              <a:rPr lang="fr-FR" dirty="0"/>
              <a:t>OPERATEURS LOGIQUES A UTILISER DANS </a:t>
            </a:r>
            <a:r>
              <a:rPr lang="fr-FR" dirty="0">
                <a:solidFill>
                  <a:srgbClr val="119571"/>
                </a:solidFill>
              </a:rPr>
              <a:t>i</a:t>
            </a:r>
          </a:p>
        </p:txBody>
      </p:sp>
      <p:sp>
        <p:nvSpPr>
          <p:cNvPr id="150" name="Line"/>
          <p:cNvSpPr/>
          <p:nvPr/>
        </p:nvSpPr>
        <p:spPr>
          <a:xfrm>
            <a:off x="289898" y="9190451"/>
            <a:ext cx="4320000" cy="1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51" name="Use headers, colors, and/or backgrounds to separate or group together sections."/>
          <p:cNvSpPr txBox="1"/>
          <p:nvPr/>
        </p:nvSpPr>
        <p:spPr>
          <a:xfrm>
            <a:off x="289898" y="9475631"/>
            <a:ext cx="4211596" cy="46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&lt;	&lt;=	is.na()	%in%	|	</a:t>
            </a:r>
            <a:r>
              <a:rPr lang="en-US" dirty="0">
                <a:solidFill>
                  <a:srgbClr val="000000"/>
                </a:solidFill>
              </a:rPr>
              <a:t>%like%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&gt;	&gt;=	!is.na()	!	&amp;	</a:t>
            </a:r>
            <a:r>
              <a:rPr lang="en-US" dirty="0">
                <a:solidFill>
                  <a:srgbClr val="000000"/>
                </a:solidFill>
              </a:rPr>
              <a:t>%between%</a:t>
            </a:r>
          </a:p>
        </p:txBody>
      </p:sp>
      <p:graphicFrame>
        <p:nvGraphicFramePr>
          <p:cNvPr id="153" name="Table"/>
          <p:cNvGraphicFramePr/>
          <p:nvPr>
            <p:extLst>
              <p:ext uri="{D42A27DB-BD31-4B8C-83A1-F6EECF244321}">
                <p14:modId xmlns:p14="http://schemas.microsoft.com/office/powerpoint/2010/main" xmlns="" val="2301038660"/>
              </p:ext>
            </p:extLst>
          </p:nvPr>
        </p:nvGraphicFramePr>
        <p:xfrm>
          <a:off x="979678" y="7348238"/>
          <a:ext cx="4644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54" name="Line"/>
          <p:cNvSpPr/>
          <p:nvPr/>
        </p:nvSpPr>
        <p:spPr>
          <a:xfrm flipV="1">
            <a:off x="796036" y="7504886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55" name="Table"/>
          <p:cNvGraphicFramePr/>
          <p:nvPr>
            <p:extLst>
              <p:ext uri="{D42A27DB-BD31-4B8C-83A1-F6EECF244321}">
                <p14:modId xmlns:p14="http://schemas.microsoft.com/office/powerpoint/2010/main" xmlns="" val="3601920635"/>
              </p:ext>
            </p:extLst>
          </p:nvPr>
        </p:nvGraphicFramePr>
        <p:xfrm>
          <a:off x="289898" y="7351281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60" name="Use headers, colors, and/or backgrounds to separate or group together sections."/>
          <p:cNvSpPr txBox="1"/>
          <p:nvPr/>
        </p:nvSpPr>
        <p:spPr>
          <a:xfrm>
            <a:off x="6057252" y="2502410"/>
            <a:ext cx="3063543" cy="498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 </a:t>
            </a:r>
            <a:r>
              <a:rPr lang="fr-FR" dirty="0">
                <a:solidFill>
                  <a:srgbClr val="0070C0"/>
                </a:solidFill>
              </a:rPr>
              <a:t>c(2)</a:t>
            </a:r>
            <a:r>
              <a:rPr lang="fr-FR" b="0" dirty="0">
                <a:solidFill>
                  <a:srgbClr val="000000"/>
                </a:solidFill>
              </a:rPr>
              <a:t>] – extraire </a:t>
            </a:r>
            <a:r>
              <a:rPr lang="fr-FR" b="0" dirty="0" smtClean="0">
                <a:solidFill>
                  <a:srgbClr val="000000"/>
                </a:solidFill>
              </a:rPr>
              <a:t>des </a:t>
            </a:r>
            <a:r>
              <a:rPr lang="fr-FR" b="0" dirty="0">
                <a:solidFill>
                  <a:srgbClr val="000000"/>
                </a:solidFill>
              </a:rPr>
              <a:t>colonnes par numéro. Préfixer </a:t>
            </a:r>
            <a:r>
              <a:rPr lang="fr-FR" b="0" dirty="0" smtClean="0">
                <a:solidFill>
                  <a:srgbClr val="000000"/>
                </a:solidFill>
              </a:rPr>
              <a:t>avec “-” les </a:t>
            </a:r>
            <a:r>
              <a:rPr lang="fr-FR" b="0" dirty="0">
                <a:solidFill>
                  <a:srgbClr val="000000"/>
                </a:solidFill>
              </a:rPr>
              <a:t>numéros </a:t>
            </a:r>
            <a:r>
              <a:rPr lang="fr-FR" b="0" dirty="0" smtClean="0">
                <a:solidFill>
                  <a:srgbClr val="000000"/>
                </a:solidFill>
              </a:rPr>
              <a:t>des colonnes à ignorer.</a:t>
            </a:r>
            <a:endParaRPr lang="fr-FR" b="0" dirty="0">
              <a:solidFill>
                <a:srgbClr val="000000"/>
              </a:solidFill>
            </a:endParaRPr>
          </a:p>
        </p:txBody>
      </p:sp>
      <p:graphicFrame>
        <p:nvGraphicFramePr>
          <p:cNvPr id="161" name="Table"/>
          <p:cNvGraphicFramePr/>
          <p:nvPr>
            <p:extLst>
              <p:ext uri="{D42A27DB-BD31-4B8C-83A1-F6EECF244321}">
                <p14:modId xmlns:p14="http://schemas.microsoft.com/office/powerpoint/2010/main" xmlns="" val="3840837557"/>
              </p:ext>
            </p:extLst>
          </p:nvPr>
        </p:nvGraphicFramePr>
        <p:xfrm>
          <a:off x="5525181" y="2500381"/>
          <a:ext cx="1548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62" name="Line"/>
          <p:cNvSpPr/>
          <p:nvPr/>
        </p:nvSpPr>
        <p:spPr>
          <a:xfrm>
            <a:off x="5344117" y="2652546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63" name="Table"/>
          <p:cNvGraphicFramePr/>
          <p:nvPr>
            <p:extLst>
              <p:ext uri="{D42A27DB-BD31-4B8C-83A1-F6EECF244321}">
                <p14:modId xmlns:p14="http://schemas.microsoft.com/office/powerpoint/2010/main" xmlns="" val="336120589"/>
              </p:ext>
            </p:extLst>
          </p:nvPr>
        </p:nvGraphicFramePr>
        <p:xfrm>
          <a:off x="4834526" y="2500381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64" name="Use headers, colors, and/or backgrounds to separate or group together sections."/>
          <p:cNvSpPr txBox="1"/>
          <p:nvPr/>
        </p:nvSpPr>
        <p:spPr>
          <a:xfrm>
            <a:off x="6057253" y="3350613"/>
            <a:ext cx="3063542" cy="166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 </a:t>
            </a:r>
            <a:r>
              <a:rPr lang="fr-FR" dirty="0">
                <a:solidFill>
                  <a:srgbClr val="0070C0"/>
                </a:solidFill>
              </a:rPr>
              <a:t>.(b, c)</a:t>
            </a:r>
            <a:r>
              <a:rPr lang="fr-FR" b="0" dirty="0">
                <a:solidFill>
                  <a:srgbClr val="000000"/>
                </a:solidFill>
              </a:rPr>
              <a:t>] – extraire les colonnes par leur nom</a:t>
            </a: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fr-FR" b="0" dirty="0">
              <a:solidFill>
                <a:srgbClr val="000000"/>
              </a:solidFill>
            </a:endParaRPr>
          </a:p>
        </p:txBody>
      </p:sp>
      <p:graphicFrame>
        <p:nvGraphicFramePr>
          <p:cNvPr id="165" name="Table"/>
          <p:cNvGraphicFramePr/>
          <p:nvPr>
            <p:extLst>
              <p:ext uri="{D42A27DB-BD31-4B8C-83A1-F6EECF244321}">
                <p14:modId xmlns:p14="http://schemas.microsoft.com/office/powerpoint/2010/main" xmlns="" val="4127869966"/>
              </p:ext>
            </p:extLst>
          </p:nvPr>
        </p:nvGraphicFramePr>
        <p:xfrm>
          <a:off x="5525181" y="3349725"/>
          <a:ext cx="309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66" name="Line"/>
          <p:cNvSpPr/>
          <p:nvPr/>
        </p:nvSpPr>
        <p:spPr>
          <a:xfrm>
            <a:off x="5344117" y="3499862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67" name="Table"/>
          <p:cNvGraphicFramePr/>
          <p:nvPr>
            <p:extLst>
              <p:ext uri="{D42A27DB-BD31-4B8C-83A1-F6EECF244321}">
                <p14:modId xmlns:p14="http://schemas.microsoft.com/office/powerpoint/2010/main" xmlns="" val="2704408127"/>
              </p:ext>
            </p:extLst>
          </p:nvPr>
        </p:nvGraphicFramePr>
        <p:xfrm>
          <a:off x="4834526" y="3349725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168" name="Table"/>
          <p:cNvGraphicFramePr/>
          <p:nvPr>
            <p:extLst>
              <p:ext uri="{D42A27DB-BD31-4B8C-83A1-F6EECF244321}">
                <p14:modId xmlns:p14="http://schemas.microsoft.com/office/powerpoint/2010/main" xmlns="" val="2821445932"/>
              </p:ext>
            </p:extLst>
          </p:nvPr>
        </p:nvGraphicFramePr>
        <p:xfrm>
          <a:off x="979679" y="8265394"/>
          <a:ext cx="464400" cy="3048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6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69" name="Line"/>
          <p:cNvSpPr/>
          <p:nvPr/>
        </p:nvSpPr>
        <p:spPr>
          <a:xfrm>
            <a:off x="796036" y="8417793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70" name="Table"/>
          <p:cNvGraphicFramePr/>
          <p:nvPr>
            <p:extLst>
              <p:ext uri="{D42A27DB-BD31-4B8C-83A1-F6EECF244321}">
                <p14:modId xmlns:p14="http://schemas.microsoft.com/office/powerpoint/2010/main" xmlns="" val="1631091416"/>
              </p:ext>
            </p:extLst>
          </p:nvPr>
        </p:nvGraphicFramePr>
        <p:xfrm>
          <a:off x="289898" y="8265394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4387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387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387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6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387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Rektangel 1"/>
          <p:cNvSpPr/>
          <p:nvPr/>
        </p:nvSpPr>
        <p:spPr>
          <a:xfrm>
            <a:off x="4834526" y="2149442"/>
            <a:ext cx="869790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EXTRAIRE</a:t>
            </a:r>
          </a:p>
        </p:txBody>
      </p:sp>
      <p:sp>
        <p:nvSpPr>
          <p:cNvPr id="172" name="Line"/>
          <p:cNvSpPr/>
          <p:nvPr/>
        </p:nvSpPr>
        <p:spPr>
          <a:xfrm flipV="1">
            <a:off x="4834526" y="2127269"/>
            <a:ext cx="4320000" cy="3147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73" name="Use headers, colors, and/or backgrounds to separate or group together sections."/>
          <p:cNvSpPr txBox="1"/>
          <p:nvPr/>
        </p:nvSpPr>
        <p:spPr>
          <a:xfrm>
            <a:off x="5904365" y="4544336"/>
            <a:ext cx="3250160" cy="1159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dt</a:t>
            </a:r>
            <a:r>
              <a:rPr lang="fr-FR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[, </a:t>
            </a:r>
            <a:r>
              <a:rPr lang="fr-FR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.(x = </a:t>
            </a:r>
            <a:r>
              <a:rPr lang="fr-FR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sum</a:t>
            </a:r>
            <a:r>
              <a:rPr lang="fr-FR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(a))</a:t>
            </a:r>
            <a:r>
              <a:rPr lang="fr-FR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] – créer </a:t>
            </a:r>
            <a:r>
              <a:rPr lang="fr-FR" b="0" dirty="0" smtClean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un </a:t>
            </a:r>
            <a:r>
              <a:rPr lang="fr-FR" b="0" dirty="0" err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data.table</a:t>
            </a:r>
            <a:r>
              <a:rPr lang="fr-FR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avec de nouvelles colonnes basées sur le total des valeurs des lignes.</a:t>
            </a:r>
          </a:p>
          <a:p>
            <a:pPr lvl="1" indent="0">
              <a:lnSpc>
                <a:spcPct val="90000"/>
              </a:lnSpc>
            </a:pPr>
            <a:endParaRPr lang="fr-FR" sz="8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 indent="0">
              <a:lnSpc>
                <a:spcPct val="90000"/>
              </a:lnSpc>
            </a:pPr>
            <a:r>
              <a:rPr lang="fr-FR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Les fonctions </a:t>
            </a:r>
            <a:r>
              <a:rPr lang="fr-FR" b="0" dirty="0" smtClean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 sommation telles </a:t>
            </a:r>
            <a:r>
              <a:rPr lang="fr-FR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que </a:t>
            </a:r>
            <a:r>
              <a:rPr lang="fr-FR" b="0" dirty="0" err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mean</a:t>
            </a:r>
            <a:r>
              <a:rPr lang="fr-FR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(), </a:t>
            </a:r>
            <a:r>
              <a:rPr lang="fr-FR" b="0" dirty="0" err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median</a:t>
            </a:r>
            <a:r>
              <a:rPr lang="fr-FR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(), min(), max(), etc. peuvent être utilisées.</a:t>
            </a:r>
          </a:p>
        </p:txBody>
      </p:sp>
      <p:sp>
        <p:nvSpPr>
          <p:cNvPr id="182" name="Line"/>
          <p:cNvSpPr/>
          <p:nvPr/>
        </p:nvSpPr>
        <p:spPr>
          <a:xfrm>
            <a:off x="4834526" y="4180809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06" name="Use headers, colors, and/or backgrounds to separate or group together sections."/>
          <p:cNvSpPr txBox="1"/>
          <p:nvPr/>
        </p:nvSpPr>
        <p:spPr>
          <a:xfrm>
            <a:off x="9357554" y="3786541"/>
            <a:ext cx="4320000" cy="1964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 </a:t>
            </a:r>
            <a:r>
              <a:rPr lang="fr-FR" dirty="0">
                <a:solidFill>
                  <a:srgbClr val="0070C0"/>
                </a:solidFill>
              </a:rPr>
              <a:t>.(c = </a:t>
            </a:r>
            <a:r>
              <a:rPr lang="fr-FR" dirty="0" err="1">
                <a:solidFill>
                  <a:srgbClr val="0070C0"/>
                </a:solidFill>
              </a:rPr>
              <a:t>sum</a:t>
            </a:r>
            <a:r>
              <a:rPr lang="fr-FR" dirty="0">
                <a:solidFill>
                  <a:srgbClr val="0070C0"/>
                </a:solidFill>
              </a:rPr>
              <a:t>(b))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>
                <a:solidFill>
                  <a:srgbClr val="B74919"/>
                </a:solidFill>
              </a:rPr>
              <a:t>by = a</a:t>
            </a:r>
            <a:r>
              <a:rPr lang="fr-FR" b="0" dirty="0">
                <a:solidFill>
                  <a:srgbClr val="000000"/>
                </a:solidFill>
              </a:rPr>
              <a:t>]</a:t>
            </a:r>
            <a:r>
              <a:rPr lang="fr-FR" b="0" dirty="0">
                <a:solidFill>
                  <a:srgbClr val="B74919"/>
                </a:solidFill>
              </a:rPr>
              <a:t> </a:t>
            </a:r>
            <a:r>
              <a:rPr lang="fr-FR" b="0" dirty="0">
                <a:solidFill>
                  <a:srgbClr val="000000"/>
                </a:solidFill>
              </a:rPr>
              <a:t>– </a:t>
            </a:r>
            <a:r>
              <a:rPr lang="fr-FR" b="0" dirty="0" smtClean="0">
                <a:solidFill>
                  <a:srgbClr val="000000"/>
                </a:solidFill>
              </a:rPr>
              <a:t>sommer les </a:t>
            </a:r>
            <a:r>
              <a:rPr lang="fr-FR" b="0" dirty="0">
                <a:solidFill>
                  <a:srgbClr val="000000"/>
                </a:solidFill>
              </a:rPr>
              <a:t>lignes par groupe</a:t>
            </a: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fr-FR" b="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fr-FR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  <a:sym typeface="Source Sans Pro Light"/>
              </a:rPr>
              <a:t>dt</a:t>
            </a:r>
            <a:r>
              <a:rPr lang="fr-FR" b="0" dirty="0">
                <a:solidFill>
                  <a:srgbClr val="000000"/>
                </a:solidFill>
                <a:sym typeface="Source Sans Pro Light"/>
              </a:rPr>
              <a:t>[,</a:t>
            </a:r>
            <a:r>
              <a:rPr lang="fr-FR" dirty="0">
                <a:solidFill>
                  <a:srgbClr val="206DA5"/>
                </a:solidFill>
                <a:sym typeface="Source Sans Pro Light"/>
              </a:rPr>
              <a:t> </a:t>
            </a:r>
            <a:r>
              <a:rPr lang="fr-FR" dirty="0">
                <a:solidFill>
                  <a:srgbClr val="0070C0"/>
                </a:solidFill>
                <a:sym typeface="Source Sans Pro Light"/>
              </a:rPr>
              <a:t>c := </a:t>
            </a:r>
            <a:r>
              <a:rPr lang="fr-FR" dirty="0" err="1">
                <a:solidFill>
                  <a:srgbClr val="0070C0"/>
                </a:solidFill>
                <a:sym typeface="Source Sans Pro Light"/>
              </a:rPr>
              <a:t>sum</a:t>
            </a:r>
            <a:r>
              <a:rPr lang="fr-FR" dirty="0">
                <a:solidFill>
                  <a:srgbClr val="0070C0"/>
                </a:solidFill>
                <a:sym typeface="Source Sans Pro Light"/>
              </a:rPr>
              <a:t>(b)</a:t>
            </a:r>
            <a:r>
              <a:rPr lang="fr-FR" dirty="0">
                <a:solidFill>
                  <a:srgbClr val="000000"/>
                </a:solidFill>
                <a:sym typeface="Source Sans Pro Light"/>
              </a:rPr>
              <a:t>, </a:t>
            </a:r>
            <a:r>
              <a:rPr lang="fr-FR" dirty="0">
                <a:solidFill>
                  <a:srgbClr val="B74919"/>
                </a:solidFill>
              </a:rPr>
              <a:t>by = a</a:t>
            </a:r>
            <a:r>
              <a:rPr lang="fr-FR" b="0" dirty="0">
                <a:solidFill>
                  <a:srgbClr val="000000"/>
                </a:solidFill>
                <a:sym typeface="Source Sans Pro Light"/>
              </a:rPr>
              <a:t>] – créer une nouvelle colonne et calculer les lignes dans chaque groupe</a:t>
            </a: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fr-FR" b="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fr-FR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 </a:t>
            </a:r>
            <a:r>
              <a:rPr lang="fr-FR" dirty="0">
                <a:solidFill>
                  <a:srgbClr val="0070C0"/>
                </a:solidFill>
              </a:rPr>
              <a:t>.SD[1]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>
                <a:solidFill>
                  <a:srgbClr val="B74919"/>
                </a:solidFill>
              </a:rPr>
              <a:t>by = a</a:t>
            </a:r>
            <a:r>
              <a:rPr lang="fr-FR" b="0" dirty="0">
                <a:solidFill>
                  <a:srgbClr val="000000"/>
                </a:solidFill>
              </a:rPr>
              <a:t>] – extraire la première ligne de chaque groupe.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fr-FR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  <a:sym typeface="Source Sans Pro Light"/>
              </a:rPr>
              <a:t>dt</a:t>
            </a:r>
            <a:r>
              <a:rPr lang="fr-FR" b="0" dirty="0">
                <a:solidFill>
                  <a:srgbClr val="000000"/>
                </a:solidFill>
                <a:sym typeface="Source Sans Pro Light"/>
              </a:rPr>
              <a:t>[, </a:t>
            </a:r>
            <a:r>
              <a:rPr lang="fr-FR" dirty="0">
                <a:solidFill>
                  <a:srgbClr val="0070C0"/>
                </a:solidFill>
                <a:sym typeface="Source Sans Pro Light"/>
              </a:rPr>
              <a:t>.SD[.N]</a:t>
            </a:r>
            <a:r>
              <a:rPr lang="fr-FR" dirty="0">
                <a:solidFill>
                  <a:srgbClr val="000000"/>
                </a:solidFill>
                <a:sym typeface="Source Sans Pro Light"/>
              </a:rPr>
              <a:t>, </a:t>
            </a:r>
            <a:r>
              <a:rPr lang="fr-FR" dirty="0">
                <a:solidFill>
                  <a:srgbClr val="B74919"/>
                </a:solidFill>
              </a:rPr>
              <a:t>by = a</a:t>
            </a:r>
            <a:r>
              <a:rPr lang="fr-FR" b="0" dirty="0">
                <a:solidFill>
                  <a:srgbClr val="000000"/>
                </a:solidFill>
                <a:sym typeface="Source Sans Pro Light"/>
              </a:rPr>
              <a:t>] – </a:t>
            </a:r>
            <a:r>
              <a:rPr lang="fr-FR" b="0" dirty="0">
                <a:solidFill>
                  <a:srgbClr val="000000"/>
                </a:solidFill>
              </a:rPr>
              <a:t>extraire la dernière ligne de chaque groupe.</a:t>
            </a:r>
          </a:p>
        </p:txBody>
      </p:sp>
      <p:sp>
        <p:nvSpPr>
          <p:cNvPr id="207" name="Rektangel 206"/>
          <p:cNvSpPr/>
          <p:nvPr/>
        </p:nvSpPr>
        <p:spPr>
          <a:xfrm>
            <a:off x="9357554" y="3479407"/>
            <a:ext cx="4339396" cy="27699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1" indent="0"/>
            <a:r>
              <a:rPr lang="da-DK" dirty="0"/>
              <a:t>OPÉRATIONS COMMUNES DE GROUPEMENT</a:t>
            </a:r>
          </a:p>
        </p:txBody>
      </p:sp>
      <p:sp>
        <p:nvSpPr>
          <p:cNvPr id="208" name="Line"/>
          <p:cNvSpPr/>
          <p:nvPr/>
        </p:nvSpPr>
        <p:spPr>
          <a:xfrm flipV="1">
            <a:off x="9357554" y="3458104"/>
            <a:ext cx="43164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09" name="Rektangel 208"/>
          <p:cNvSpPr/>
          <p:nvPr/>
        </p:nvSpPr>
        <p:spPr>
          <a:xfrm>
            <a:off x="4834526" y="5700505"/>
            <a:ext cx="2270814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CALCULER DES COLONNES*</a:t>
            </a:r>
          </a:p>
        </p:txBody>
      </p:sp>
      <p:sp>
        <p:nvSpPr>
          <p:cNvPr id="210" name="Line"/>
          <p:cNvSpPr/>
          <p:nvPr/>
        </p:nvSpPr>
        <p:spPr>
          <a:xfrm>
            <a:off x="4834526" y="5684790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graphicFrame>
        <p:nvGraphicFramePr>
          <p:cNvPr id="220" name="Table"/>
          <p:cNvGraphicFramePr/>
          <p:nvPr>
            <p:extLst>
              <p:ext uri="{D42A27DB-BD31-4B8C-83A1-F6EECF244321}">
                <p14:modId xmlns:p14="http://schemas.microsoft.com/office/powerpoint/2010/main" xmlns="" val="4284701110"/>
              </p:ext>
            </p:extLst>
          </p:nvPr>
        </p:nvGraphicFramePr>
        <p:xfrm>
          <a:off x="5368489" y="6048309"/>
          <a:ext cx="4644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21" name="Line"/>
          <p:cNvSpPr/>
          <p:nvPr/>
        </p:nvSpPr>
        <p:spPr>
          <a:xfrm>
            <a:off x="5189493" y="6198746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222" name="Table"/>
          <p:cNvGraphicFramePr/>
          <p:nvPr>
            <p:extLst>
              <p:ext uri="{D42A27DB-BD31-4B8C-83A1-F6EECF244321}">
                <p14:modId xmlns:p14="http://schemas.microsoft.com/office/powerpoint/2010/main" xmlns="" val="449746630"/>
              </p:ext>
            </p:extLst>
          </p:nvPr>
        </p:nvGraphicFramePr>
        <p:xfrm>
          <a:off x="4834526" y="6048309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23" name="Use headers, colors, and/or backgrounds to separate or group together sections."/>
          <p:cNvSpPr txBox="1"/>
          <p:nvPr/>
        </p:nvSpPr>
        <p:spPr>
          <a:xfrm>
            <a:off x="6212052" y="6048309"/>
            <a:ext cx="2930557" cy="33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>
                <a:solidFill>
                  <a:srgbClr val="0070C0"/>
                </a:solidFill>
              </a:rPr>
              <a:t>c := 1 + 2</a:t>
            </a:r>
            <a:r>
              <a:rPr lang="fr-FR" b="0" dirty="0">
                <a:solidFill>
                  <a:srgbClr val="000000"/>
                </a:solidFill>
              </a:rPr>
              <a:t>] – calculer une colonne </a:t>
            </a:r>
            <a:r>
              <a:rPr lang="fr-FR" b="0" dirty="0" smtClean="0">
                <a:solidFill>
                  <a:srgbClr val="000000"/>
                </a:solidFill>
              </a:rPr>
              <a:t>sur la  </a:t>
            </a:r>
            <a:r>
              <a:rPr lang="fr-FR" b="0" dirty="0">
                <a:solidFill>
                  <a:srgbClr val="000000"/>
                </a:solidFill>
              </a:rPr>
              <a:t>base d’une expression.</a:t>
            </a:r>
          </a:p>
        </p:txBody>
      </p:sp>
      <p:sp>
        <p:nvSpPr>
          <p:cNvPr id="224" name="Use headers, colors, and/or backgrounds to separate or group together sections."/>
          <p:cNvSpPr txBox="1"/>
          <p:nvPr/>
        </p:nvSpPr>
        <p:spPr>
          <a:xfrm>
            <a:off x="10752276" y="7886213"/>
            <a:ext cx="2968122" cy="664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dirty="0" err="1">
                <a:solidFill>
                  <a:srgbClr val="000000"/>
                </a:solidFill>
                <a:cs typeface="Helvetica" panose="020B0604020202020204" pitchFamily="34" charset="0"/>
              </a:rPr>
              <a:t>setorder</a:t>
            </a:r>
            <a:r>
              <a:rPr lang="fr-FR" dirty="0">
                <a:solidFill>
                  <a:srgbClr val="000000"/>
                </a:solidFill>
                <a:cs typeface="Helvetica" panose="020B0604020202020204" pitchFamily="34" charset="0"/>
              </a:rPr>
              <a:t>(</a:t>
            </a:r>
            <a:r>
              <a:rPr lang="fr-FR" b="0" dirty="0" err="1">
                <a:solidFill>
                  <a:srgbClr val="000000"/>
                </a:solidFill>
                <a:cs typeface="Helvetica" panose="020B0604020202020204" pitchFamily="34" charset="0"/>
              </a:rPr>
              <a:t>dt</a:t>
            </a:r>
            <a:r>
              <a:rPr lang="fr-FR" b="0" dirty="0">
                <a:solidFill>
                  <a:srgbClr val="000000"/>
                </a:solidFill>
                <a:cs typeface="Helvetica" panose="020B0604020202020204" pitchFamily="34" charset="0"/>
              </a:rPr>
              <a:t>, a, </a:t>
            </a:r>
            <a:r>
              <a:rPr lang="fr-FR" dirty="0">
                <a:solidFill>
                  <a:srgbClr val="000000"/>
                </a:solidFill>
                <a:cs typeface="Helvetica" panose="020B0604020202020204" pitchFamily="34" charset="0"/>
              </a:rPr>
              <a:t>-</a:t>
            </a:r>
            <a:r>
              <a:rPr lang="fr-FR" b="0" dirty="0">
                <a:solidFill>
                  <a:srgbClr val="000000"/>
                </a:solidFill>
                <a:cs typeface="Helvetica" panose="020B0604020202020204" pitchFamily="34" charset="0"/>
              </a:rPr>
              <a:t>b</a:t>
            </a:r>
            <a:r>
              <a:rPr lang="fr-FR" dirty="0">
                <a:solidFill>
                  <a:srgbClr val="000000"/>
                </a:solidFill>
                <a:cs typeface="Helvetica" panose="020B0604020202020204" pitchFamily="34" charset="0"/>
              </a:rPr>
              <a:t>)</a:t>
            </a:r>
            <a:r>
              <a:rPr lang="fr-FR" b="0" dirty="0">
                <a:solidFill>
                  <a:srgbClr val="000000"/>
                </a:solidFill>
                <a:cs typeface="Helvetica" panose="020B0604020202020204" pitchFamily="34" charset="0"/>
              </a:rPr>
              <a:t> – trier </a:t>
            </a:r>
            <a:r>
              <a:rPr lang="fr-FR" b="0" dirty="0" smtClean="0">
                <a:solidFill>
                  <a:srgbClr val="000000"/>
                </a:solidFill>
                <a:cs typeface="Helvetica" panose="020B0604020202020204" pitchFamily="34" charset="0"/>
              </a:rPr>
              <a:t>un </a:t>
            </a:r>
            <a:r>
              <a:rPr lang="fr-FR" b="0" dirty="0" err="1">
                <a:solidFill>
                  <a:srgbClr val="000000"/>
                </a:solidFill>
                <a:cs typeface="Helvetica" panose="020B0604020202020204" pitchFamily="34" charset="0"/>
              </a:rPr>
              <a:t>data.table</a:t>
            </a:r>
            <a:r>
              <a:rPr lang="fr-FR" b="0" dirty="0">
                <a:solidFill>
                  <a:srgbClr val="000000"/>
                </a:solidFill>
                <a:cs typeface="Helvetica" panose="020B0604020202020204" pitchFamily="34" charset="0"/>
              </a:rPr>
              <a:t> en fonction des colonnes indiquées. Préfixer les noms des colonnes avec “</a:t>
            </a:r>
            <a:r>
              <a:rPr lang="fr-FR" dirty="0">
                <a:solidFill>
                  <a:srgbClr val="000000"/>
                </a:solidFill>
                <a:cs typeface="Helvetica" panose="020B0604020202020204" pitchFamily="34" charset="0"/>
              </a:rPr>
              <a:t>-</a:t>
            </a:r>
            <a:r>
              <a:rPr lang="fr-FR" b="0" dirty="0">
                <a:solidFill>
                  <a:srgbClr val="000000"/>
                </a:solidFill>
                <a:cs typeface="Helvetica" panose="020B0604020202020204" pitchFamily="34" charset="0"/>
              </a:rPr>
              <a:t>” pour trier dans l’ordre descendant.</a:t>
            </a:r>
          </a:p>
        </p:txBody>
      </p:sp>
      <p:graphicFrame>
        <p:nvGraphicFramePr>
          <p:cNvPr id="225" name="Table"/>
          <p:cNvGraphicFramePr/>
          <p:nvPr>
            <p:extLst>
              <p:ext uri="{D42A27DB-BD31-4B8C-83A1-F6EECF244321}">
                <p14:modId xmlns:p14="http://schemas.microsoft.com/office/powerpoint/2010/main" xmlns="" val="3584069129"/>
              </p:ext>
            </p:extLst>
          </p:nvPr>
        </p:nvGraphicFramePr>
        <p:xfrm>
          <a:off x="10054915" y="7890022"/>
          <a:ext cx="464400" cy="6096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26" name="Line"/>
          <p:cNvSpPr/>
          <p:nvPr/>
        </p:nvSpPr>
        <p:spPr>
          <a:xfrm>
            <a:off x="9869043" y="8039212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227" name="Table"/>
          <p:cNvGraphicFramePr/>
          <p:nvPr>
            <p:extLst>
              <p:ext uri="{D42A27DB-BD31-4B8C-83A1-F6EECF244321}">
                <p14:modId xmlns:p14="http://schemas.microsoft.com/office/powerpoint/2010/main" xmlns="" val="1644299138"/>
              </p:ext>
            </p:extLst>
          </p:nvPr>
        </p:nvGraphicFramePr>
        <p:xfrm>
          <a:off x="9357554" y="7883762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b="1" dirty="0"/>
                        <a:t>a</a:t>
                      </a:r>
                      <a:endParaRPr b="1"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28" name="Rektangel 227"/>
          <p:cNvSpPr/>
          <p:nvPr/>
        </p:nvSpPr>
        <p:spPr>
          <a:xfrm>
            <a:off x="9357554" y="7551138"/>
            <a:ext cx="497893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TRIER</a:t>
            </a:r>
          </a:p>
        </p:txBody>
      </p:sp>
      <p:sp>
        <p:nvSpPr>
          <p:cNvPr id="229" name="Line"/>
          <p:cNvSpPr/>
          <p:nvPr/>
        </p:nvSpPr>
        <p:spPr>
          <a:xfrm flipV="1">
            <a:off x="9357554" y="7531929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37" name="Line"/>
          <p:cNvSpPr/>
          <p:nvPr/>
        </p:nvSpPr>
        <p:spPr>
          <a:xfrm>
            <a:off x="5189493" y="6911914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238" name="Table"/>
          <p:cNvGraphicFramePr/>
          <p:nvPr>
            <p:extLst>
              <p:ext uri="{D42A27DB-BD31-4B8C-83A1-F6EECF244321}">
                <p14:modId xmlns:p14="http://schemas.microsoft.com/office/powerpoint/2010/main" xmlns="" val="325753191"/>
              </p:ext>
            </p:extLst>
          </p:nvPr>
        </p:nvGraphicFramePr>
        <p:xfrm>
          <a:off x="4834526" y="6757370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39" name="Use headers, colors, and/or backgrounds to separate or group together sections."/>
          <p:cNvSpPr txBox="1"/>
          <p:nvPr/>
        </p:nvSpPr>
        <p:spPr>
          <a:xfrm>
            <a:off x="6212052" y="6757370"/>
            <a:ext cx="2942473" cy="703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</a:t>
            </a:r>
            <a:r>
              <a:rPr lang="fr-FR" dirty="0">
                <a:solidFill>
                  <a:srgbClr val="119571"/>
                </a:solidFill>
              </a:rPr>
              <a:t>a == 1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>
                <a:solidFill>
                  <a:srgbClr val="0070C0"/>
                </a:solidFill>
              </a:rPr>
              <a:t>c := 1 + 2</a:t>
            </a:r>
            <a:r>
              <a:rPr lang="fr-FR" b="0" dirty="0">
                <a:solidFill>
                  <a:srgbClr val="000000"/>
                </a:solidFill>
              </a:rPr>
              <a:t>] – calculer une colonne sur </a:t>
            </a:r>
            <a:r>
              <a:rPr lang="fr-FR" b="0" dirty="0" smtClean="0">
                <a:solidFill>
                  <a:srgbClr val="000000"/>
                </a:solidFill>
              </a:rPr>
              <a:t>la base </a:t>
            </a:r>
            <a:r>
              <a:rPr lang="fr-FR" b="0" dirty="0">
                <a:solidFill>
                  <a:srgbClr val="000000"/>
                </a:solidFill>
              </a:rPr>
              <a:t>d’une expression, mais seulement sur un sous-ensemble de lignes.</a:t>
            </a:r>
            <a:endParaRPr lang="fr-FR" dirty="0"/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dirty="0"/>
          </a:p>
        </p:txBody>
      </p:sp>
      <p:graphicFrame>
        <p:nvGraphicFramePr>
          <p:cNvPr id="247" name="Table"/>
          <p:cNvGraphicFramePr/>
          <p:nvPr>
            <p:extLst>
              <p:ext uri="{D42A27DB-BD31-4B8C-83A1-F6EECF244321}">
                <p14:modId xmlns:p14="http://schemas.microsoft.com/office/powerpoint/2010/main" xmlns="" val="784391121"/>
              </p:ext>
            </p:extLst>
          </p:nvPr>
        </p:nvGraphicFramePr>
        <p:xfrm>
          <a:off x="5523865" y="4575756"/>
          <a:ext cx="154319" cy="3048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48" name="Line"/>
          <p:cNvSpPr/>
          <p:nvPr/>
        </p:nvSpPr>
        <p:spPr>
          <a:xfrm>
            <a:off x="5344117" y="4725185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249" name="Table"/>
          <p:cNvGraphicFramePr/>
          <p:nvPr>
            <p:extLst>
              <p:ext uri="{D42A27DB-BD31-4B8C-83A1-F6EECF244321}">
                <p14:modId xmlns:p14="http://schemas.microsoft.com/office/powerpoint/2010/main" xmlns="" val="1985054015"/>
              </p:ext>
            </p:extLst>
          </p:nvPr>
        </p:nvGraphicFramePr>
        <p:xfrm>
          <a:off x="4834526" y="4574631"/>
          <a:ext cx="463158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1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1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53" name="Rektangel 252"/>
          <p:cNvSpPr/>
          <p:nvPr/>
        </p:nvSpPr>
        <p:spPr>
          <a:xfrm>
            <a:off x="4834526" y="4192366"/>
            <a:ext cx="784830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 smtClean="0"/>
              <a:t>SOMMER</a:t>
            </a:r>
            <a:endParaRPr lang="da-DK" dirty="0"/>
          </a:p>
        </p:txBody>
      </p:sp>
      <p:graphicFrame>
        <p:nvGraphicFramePr>
          <p:cNvPr id="236" name="Table"/>
          <p:cNvGraphicFramePr/>
          <p:nvPr>
            <p:extLst>
              <p:ext uri="{D42A27DB-BD31-4B8C-83A1-F6EECF244321}">
                <p14:modId xmlns:p14="http://schemas.microsoft.com/office/powerpoint/2010/main" xmlns="" val="2801020611"/>
              </p:ext>
            </p:extLst>
          </p:nvPr>
        </p:nvGraphicFramePr>
        <p:xfrm>
          <a:off x="5365193" y="6757370"/>
          <a:ext cx="507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8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NA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84" name="Graphic 83">
            <a:extLst>
              <a:ext uri="{FF2B5EF4-FFF2-40B4-BE49-F238E27FC236}">
                <a16:creationId xmlns:a16="http://schemas.microsoft.com/office/drawing/2014/main" xmlns="" id="{43CC6773-1267-9A43-98DD-0FDDAB5749C8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378559" y="380527"/>
            <a:ext cx="1316771" cy="1316771"/>
          </a:xfrm>
          <a:prstGeom prst="rect">
            <a:avLst/>
          </a:prstGeom>
        </p:spPr>
      </p:pic>
      <p:sp>
        <p:nvSpPr>
          <p:cNvPr id="92" name="Line">
            <a:extLst>
              <a:ext uri="{FF2B5EF4-FFF2-40B4-BE49-F238E27FC236}">
                <a16:creationId xmlns:a16="http://schemas.microsoft.com/office/drawing/2014/main" xmlns="" id="{D1B8FF3B-6C57-DF4D-B3E5-95B25814611A}"/>
              </a:ext>
            </a:extLst>
          </p:cNvPr>
          <p:cNvSpPr/>
          <p:nvPr/>
        </p:nvSpPr>
        <p:spPr>
          <a:xfrm flipV="1">
            <a:off x="9358627" y="1530349"/>
            <a:ext cx="3024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93" name="Layout Suggestions">
            <a:extLst>
              <a:ext uri="{FF2B5EF4-FFF2-40B4-BE49-F238E27FC236}">
                <a16:creationId xmlns:a16="http://schemas.microsoft.com/office/drawing/2014/main" xmlns="" id="{B31B9D0D-B029-3849-95ED-A6B0B6BAD9D8}"/>
              </a:ext>
            </a:extLst>
          </p:cNvPr>
          <p:cNvSpPr txBox="1"/>
          <p:nvPr/>
        </p:nvSpPr>
        <p:spPr>
          <a:xfrm>
            <a:off x="9358627" y="1623656"/>
            <a:ext cx="3840883" cy="3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Grouper avec </a:t>
            </a:r>
            <a:r>
              <a:rPr lang="en-US" dirty="0">
                <a:solidFill>
                  <a:srgbClr val="B74919"/>
                </a:solidFill>
              </a:rPr>
              <a:t>by</a:t>
            </a:r>
          </a:p>
        </p:txBody>
      </p:sp>
      <p:graphicFrame>
        <p:nvGraphicFramePr>
          <p:cNvPr id="94" name="Table">
            <a:extLst>
              <a:ext uri="{FF2B5EF4-FFF2-40B4-BE49-F238E27FC236}">
                <a16:creationId xmlns:a16="http://schemas.microsoft.com/office/drawing/2014/main" xmlns="" id="{79B945F6-A997-F048-867C-9D072ADC99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210736610"/>
              </p:ext>
            </p:extLst>
          </p:nvPr>
        </p:nvGraphicFramePr>
        <p:xfrm>
          <a:off x="10065698" y="2121177"/>
          <a:ext cx="4644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5" name="Line">
            <a:extLst>
              <a:ext uri="{FF2B5EF4-FFF2-40B4-BE49-F238E27FC236}">
                <a16:creationId xmlns:a16="http://schemas.microsoft.com/office/drawing/2014/main" xmlns="" id="{2DABAA71-5B01-564B-ADCF-5D1C5CF0E04A}"/>
              </a:ext>
            </a:extLst>
          </p:cNvPr>
          <p:cNvSpPr/>
          <p:nvPr/>
        </p:nvSpPr>
        <p:spPr>
          <a:xfrm>
            <a:off x="9879455" y="2272280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96" name="Table">
            <a:extLst>
              <a:ext uri="{FF2B5EF4-FFF2-40B4-BE49-F238E27FC236}">
                <a16:creationId xmlns:a16="http://schemas.microsoft.com/office/drawing/2014/main" xmlns="" id="{9BF9812C-594F-2649-8AB7-B2CB5A7181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259442418"/>
              </p:ext>
            </p:extLst>
          </p:nvPr>
        </p:nvGraphicFramePr>
        <p:xfrm>
          <a:off x="9358627" y="2122560"/>
          <a:ext cx="464400" cy="10668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aphicFrame>
        <p:nvGraphicFramePr>
          <p:cNvPr id="97" name="Tabel 3">
            <a:extLst>
              <a:ext uri="{FF2B5EF4-FFF2-40B4-BE49-F238E27FC236}">
                <a16:creationId xmlns:a16="http://schemas.microsoft.com/office/drawing/2014/main" xmlns="" id="{443F8848-7FD4-6848-A08D-A03EE8956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07246212"/>
              </p:ext>
            </p:extLst>
          </p:nvPr>
        </p:nvGraphicFramePr>
        <p:xfrm>
          <a:off x="9950469" y="2600049"/>
          <a:ext cx="464400" cy="3048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EEB64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EEB64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EEB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EEB64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EEB64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EEB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98" name="Tabel 4">
            <a:extLst>
              <a:ext uri="{FF2B5EF4-FFF2-40B4-BE49-F238E27FC236}">
                <a16:creationId xmlns:a16="http://schemas.microsoft.com/office/drawing/2014/main" xmlns="" id="{B1606D4E-6C79-CA4E-8B89-B6BEB98D4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3275537"/>
              </p:ext>
            </p:extLst>
          </p:nvPr>
        </p:nvGraphicFramePr>
        <p:xfrm>
          <a:off x="10104485" y="2933406"/>
          <a:ext cx="464400" cy="3048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45591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99" name="Line">
            <a:extLst>
              <a:ext uri="{FF2B5EF4-FFF2-40B4-BE49-F238E27FC236}">
                <a16:creationId xmlns:a16="http://schemas.microsoft.com/office/drawing/2014/main" xmlns="" id="{A0C1E1A8-344F-B842-A209-E7720244B819}"/>
              </a:ext>
            </a:extLst>
          </p:cNvPr>
          <p:cNvSpPr/>
          <p:nvPr/>
        </p:nvSpPr>
        <p:spPr>
          <a:xfrm>
            <a:off x="10565935" y="2272280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00" name="Table">
            <a:extLst>
              <a:ext uri="{FF2B5EF4-FFF2-40B4-BE49-F238E27FC236}">
                <a16:creationId xmlns:a16="http://schemas.microsoft.com/office/drawing/2014/main" xmlns="" id="{542333FA-63C1-CB4A-BBB5-22C50E8B33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311809860"/>
              </p:ext>
            </p:extLst>
          </p:nvPr>
        </p:nvGraphicFramePr>
        <p:xfrm>
          <a:off x="10742497" y="2120624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1" name="Use headers, colors, and/or backgrounds to separate or group together sections.">
            <a:extLst>
              <a:ext uri="{FF2B5EF4-FFF2-40B4-BE49-F238E27FC236}">
                <a16:creationId xmlns:a16="http://schemas.microsoft.com/office/drawing/2014/main" xmlns="" id="{98E8719E-5D47-0E45-9466-14965AD66E5B}"/>
              </a:ext>
            </a:extLst>
          </p:cNvPr>
          <p:cNvSpPr txBox="1"/>
          <p:nvPr/>
        </p:nvSpPr>
        <p:spPr>
          <a:xfrm>
            <a:off x="11419296" y="2128300"/>
            <a:ext cx="2301101" cy="1214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 </a:t>
            </a:r>
            <a:r>
              <a:rPr lang="fr-FR" b="0" dirty="0">
                <a:solidFill>
                  <a:srgbClr val="0070C0"/>
                </a:solidFill>
              </a:rPr>
              <a:t>j</a:t>
            </a:r>
            <a:r>
              <a:rPr lang="fr-FR" b="0" dirty="0">
                <a:solidFill>
                  <a:srgbClr val="000000"/>
                </a:solidFill>
              </a:rPr>
              <a:t>, </a:t>
            </a:r>
            <a:r>
              <a:rPr lang="fr-FR" dirty="0">
                <a:solidFill>
                  <a:srgbClr val="B74919"/>
                </a:solidFill>
              </a:rPr>
              <a:t>by = .(a)</a:t>
            </a:r>
            <a:r>
              <a:rPr lang="fr-FR" b="0" dirty="0">
                <a:solidFill>
                  <a:srgbClr val="000000"/>
                </a:solidFill>
              </a:rPr>
              <a:t>] – grouper les lignes par valeurs des colonnes indiquées</a:t>
            </a:r>
            <a:r>
              <a:rPr lang="fr-FR" b="0" dirty="0" smtClean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lvl="1" indent="0">
              <a:lnSpc>
                <a:spcPct val="90000"/>
              </a:lnSpc>
            </a:pPr>
            <a:endParaRPr lang="fr-FR" b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 indent="0">
              <a:lnSpc>
                <a:spcPct val="90000"/>
              </a:lnSpc>
            </a:pPr>
            <a:r>
              <a:rPr lang="fr-FR" b="0" dirty="0" err="1" smtClean="0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 </a:t>
            </a:r>
            <a:r>
              <a:rPr lang="fr-FR" b="0" dirty="0">
                <a:solidFill>
                  <a:srgbClr val="0070C0"/>
                </a:solidFill>
              </a:rPr>
              <a:t>j</a:t>
            </a:r>
            <a:r>
              <a:rPr lang="fr-FR" b="0" dirty="0">
                <a:solidFill>
                  <a:srgbClr val="000000"/>
                </a:solidFill>
              </a:rPr>
              <a:t>, </a:t>
            </a:r>
            <a:r>
              <a:rPr lang="fr-FR" dirty="0" err="1">
                <a:solidFill>
                  <a:srgbClr val="B74819"/>
                </a:solidFill>
              </a:rPr>
              <a:t>keyby</a:t>
            </a:r>
            <a:r>
              <a:rPr lang="fr-FR" dirty="0">
                <a:solidFill>
                  <a:srgbClr val="B74819"/>
                </a:solidFill>
              </a:rPr>
              <a:t> = .(</a:t>
            </a:r>
            <a:r>
              <a:rPr lang="fr-FR" dirty="0">
                <a:solidFill>
                  <a:srgbClr val="B74919"/>
                </a:solidFill>
              </a:rPr>
              <a:t>a)</a:t>
            </a:r>
            <a:r>
              <a:rPr lang="fr-FR" b="0" dirty="0">
                <a:solidFill>
                  <a:srgbClr val="000000"/>
                </a:solidFill>
              </a:rPr>
              <a:t>] – </a:t>
            </a: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grouper </a:t>
            </a:r>
            <a:r>
              <a:rPr lang="fr-FR" b="0" i="1" dirty="0">
                <a:solidFill>
                  <a:srgbClr val="000000"/>
                </a:solidFill>
                <a:cs typeface="Arial" panose="020B0604020202020204" pitchFamily="34" charset="0"/>
              </a:rPr>
              <a:t>et trier simultanément</a:t>
            </a: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 les lignes par valeur </a:t>
            </a:r>
            <a:r>
              <a:rPr lang="fr-FR" b="0" dirty="0" smtClean="0">
                <a:solidFill>
                  <a:srgbClr val="000000"/>
                </a:solidFill>
                <a:cs typeface="Arial" panose="020B0604020202020204" pitchFamily="34" charset="0"/>
              </a:rPr>
              <a:t>des </a:t>
            </a: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colonnes indiquées.</a:t>
            </a:r>
            <a:endParaRPr lang="fr-FR" b="0" dirty="0">
              <a:solidFill>
                <a:srgbClr val="000000"/>
              </a:solidFill>
            </a:endParaRPr>
          </a:p>
        </p:txBody>
      </p:sp>
      <p:sp>
        <p:nvSpPr>
          <p:cNvPr id="102" name="Line">
            <a:extLst>
              <a:ext uri="{FF2B5EF4-FFF2-40B4-BE49-F238E27FC236}">
                <a16:creationId xmlns:a16="http://schemas.microsoft.com/office/drawing/2014/main" xmlns="" id="{6F914470-B6DA-2345-9E90-BF891DAB8549}"/>
              </a:ext>
            </a:extLst>
          </p:cNvPr>
          <p:cNvSpPr/>
          <p:nvPr/>
        </p:nvSpPr>
        <p:spPr>
          <a:xfrm>
            <a:off x="9357554" y="5721312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03" name="Useful Elements">
            <a:extLst>
              <a:ext uri="{FF2B5EF4-FFF2-40B4-BE49-F238E27FC236}">
                <a16:creationId xmlns:a16="http://schemas.microsoft.com/office/drawing/2014/main" xmlns="" id="{DD34CE4D-5E1C-004A-9859-97898C186D20}"/>
              </a:ext>
            </a:extLst>
          </p:cNvPr>
          <p:cNvSpPr txBox="1"/>
          <p:nvPr/>
        </p:nvSpPr>
        <p:spPr>
          <a:xfrm>
            <a:off x="9357554" y="5769235"/>
            <a:ext cx="3858010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fr-FR" dirty="0">
                <a:solidFill>
                  <a:srgbClr val="393939"/>
                </a:solidFill>
              </a:rPr>
              <a:t>Chaînage</a:t>
            </a:r>
          </a:p>
        </p:txBody>
      </p:sp>
      <p:sp>
        <p:nvSpPr>
          <p:cNvPr id="108" name="Use headers, colors, and/or backgrounds to separate or group together sections.">
            <a:extLst>
              <a:ext uri="{FF2B5EF4-FFF2-40B4-BE49-F238E27FC236}">
                <a16:creationId xmlns:a16="http://schemas.microsoft.com/office/drawing/2014/main" xmlns="" id="{33A98CA9-3C1F-4C42-AC36-FE4E87F51AF9}"/>
              </a:ext>
            </a:extLst>
          </p:cNvPr>
          <p:cNvSpPr txBox="1"/>
          <p:nvPr/>
        </p:nvSpPr>
        <p:spPr>
          <a:xfrm>
            <a:off x="9357554" y="6194515"/>
            <a:ext cx="4211596" cy="442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5400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dirty="0" err="1">
                <a:solidFill>
                  <a:srgbClr val="000000"/>
                </a:solidFill>
              </a:rPr>
              <a:t>dt</a:t>
            </a:r>
            <a:r>
              <a:rPr lang="fr-FR" dirty="0">
                <a:solidFill>
                  <a:srgbClr val="000000"/>
                </a:solidFill>
              </a:rPr>
              <a:t>[</a:t>
            </a:r>
            <a:r>
              <a:rPr lang="fr-FR" b="0" dirty="0">
                <a:solidFill>
                  <a:srgbClr val="000000"/>
                </a:solidFill>
              </a:rPr>
              <a:t>…</a:t>
            </a:r>
            <a:r>
              <a:rPr lang="fr-FR" dirty="0">
                <a:solidFill>
                  <a:srgbClr val="000000"/>
                </a:solidFill>
              </a:rPr>
              <a:t>][</a:t>
            </a:r>
            <a:r>
              <a:rPr lang="fr-FR" b="0" dirty="0">
                <a:solidFill>
                  <a:srgbClr val="000000"/>
                </a:solidFill>
              </a:rPr>
              <a:t>…</a:t>
            </a:r>
            <a:r>
              <a:rPr lang="fr-FR" dirty="0">
                <a:solidFill>
                  <a:srgbClr val="000000"/>
                </a:solidFill>
              </a:rPr>
              <a:t>] </a:t>
            </a:r>
            <a:r>
              <a:rPr lang="fr-FR" b="0" dirty="0">
                <a:solidFill>
                  <a:srgbClr val="000000"/>
                </a:solidFill>
              </a:rPr>
              <a:t>– réaliser une séquence d’opérations </a:t>
            </a:r>
            <a:r>
              <a:rPr lang="fr-FR" b="0" dirty="0" smtClean="0">
                <a:solidFill>
                  <a:srgbClr val="000000"/>
                </a:solidFill>
              </a:rPr>
              <a:t>sur </a:t>
            </a:r>
            <a:r>
              <a:rPr lang="fr-FR" b="0" dirty="0" err="1">
                <a:solidFill>
                  <a:srgbClr val="000000"/>
                </a:solidFill>
              </a:rPr>
              <a:t>data.table</a:t>
            </a:r>
            <a:r>
              <a:rPr lang="fr-FR" b="0" dirty="0">
                <a:solidFill>
                  <a:srgbClr val="000000"/>
                </a:solidFill>
              </a:rPr>
              <a:t> en </a:t>
            </a:r>
            <a:r>
              <a:rPr lang="fr-FR" b="0" i="1" dirty="0">
                <a:solidFill>
                  <a:srgbClr val="000000"/>
                </a:solidFill>
              </a:rPr>
              <a:t>chaînant</a:t>
            </a:r>
            <a:r>
              <a:rPr lang="fr-FR" b="0" dirty="0">
                <a:solidFill>
                  <a:srgbClr val="000000"/>
                </a:solidFill>
              </a:rPr>
              <a:t> plusieurs “[ ]”. </a:t>
            </a:r>
          </a:p>
        </p:txBody>
      </p:sp>
      <p:sp>
        <p:nvSpPr>
          <p:cNvPr id="109" name="Group">
            <a:extLst>
              <a:ext uri="{FF2B5EF4-FFF2-40B4-BE49-F238E27FC236}">
                <a16:creationId xmlns:a16="http://schemas.microsoft.com/office/drawing/2014/main" xmlns="" id="{7C094C0A-A0A2-C145-A656-D45E5E8ECA8E}"/>
              </a:ext>
            </a:extLst>
          </p:cNvPr>
          <p:cNvSpPr/>
          <p:nvPr/>
        </p:nvSpPr>
        <p:spPr>
          <a:xfrm>
            <a:off x="9357554" y="8845164"/>
            <a:ext cx="4316400" cy="1181872"/>
          </a:xfrm>
          <a:prstGeom prst="rect">
            <a:avLst/>
          </a:prstGeom>
          <a:gradFill flip="none" rotWithShape="1">
            <a:gsLst>
              <a:gs pos="0">
                <a:srgbClr val="F3F3F3"/>
              </a:gs>
              <a:gs pos="38000">
                <a:srgbClr val="F3F3F3"/>
              </a:gs>
              <a:gs pos="100000">
                <a:schemeClr val="bg1"/>
              </a:gs>
            </a:gsLst>
            <a:lin ang="5400000" scaled="1"/>
            <a:tileRect/>
          </a:gra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10" name="Thank you for making a new cheatsheet for R! These cheatsheets have an important job:">
            <a:extLst>
              <a:ext uri="{FF2B5EF4-FFF2-40B4-BE49-F238E27FC236}">
                <a16:creationId xmlns:a16="http://schemas.microsoft.com/office/drawing/2014/main" xmlns="" id="{6CD7B3C5-E6B1-2C4D-984E-697D10012176}"/>
              </a:ext>
            </a:extLst>
          </p:cNvPr>
          <p:cNvSpPr txBox="1"/>
          <p:nvPr/>
        </p:nvSpPr>
        <p:spPr>
          <a:xfrm>
            <a:off x="9513344" y="8919780"/>
            <a:ext cx="4055806" cy="129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/>
          <a:p>
            <a:pPr lvl="1" indent="0"/>
            <a:r>
              <a:rPr lang="fr-FR" sz="1600" dirty="0"/>
              <a:t>*</a:t>
            </a:r>
            <a:r>
              <a:rPr lang="fr-FR" dirty="0"/>
              <a:t> FONCTIONS SET ET :=</a:t>
            </a:r>
          </a:p>
          <a:p>
            <a:pPr lvl="1" indent="0"/>
            <a:endParaRPr lang="fr-FR" sz="100" b="0" dirty="0">
              <a:solidFill>
                <a:schemeClr val="tx1">
                  <a:lumMod val="75000"/>
                </a:schemeClr>
              </a:solidFill>
              <a:cs typeface="Arial" panose="020B0604020202020204" pitchFamily="34" charset="0"/>
            </a:endParaRPr>
          </a:p>
          <a:p>
            <a:pPr lvl="1" indent="0">
              <a:lnSpc>
                <a:spcPct val="90000"/>
              </a:lnSpc>
            </a:pP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Les fonctions de </a:t>
            </a:r>
            <a:r>
              <a:rPr lang="fr-FR" b="0" dirty="0" err="1">
                <a:solidFill>
                  <a:srgbClr val="000000"/>
                </a:solidFill>
                <a:cs typeface="Arial" panose="020B0604020202020204" pitchFamily="34" charset="0"/>
              </a:rPr>
              <a:t>data.table</a:t>
            </a: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 préfixées par “set” et l’opérateur  “:=” fonctionnent sans affectation avec “&lt;-” pour modifier les données sans faire de copies en mémoire. Par exemple la fonction “</a:t>
            </a:r>
            <a:r>
              <a:rPr lang="fr-FR" b="0" dirty="0" err="1">
                <a:solidFill>
                  <a:srgbClr val="000000"/>
                </a:solidFill>
                <a:cs typeface="Arial" panose="020B0604020202020204" pitchFamily="34" charset="0"/>
              </a:rPr>
              <a:t>setDT</a:t>
            </a: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fr-FR" b="0" dirty="0" err="1">
                <a:solidFill>
                  <a:srgbClr val="000000"/>
                </a:solidFill>
                <a:cs typeface="Arial" panose="020B0604020202020204" pitchFamily="34" charset="0"/>
              </a:rPr>
              <a:t>df</a:t>
            </a: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)” est plus efficace que </a:t>
            </a:r>
            <a:r>
              <a:rPr lang="fr-FR" b="0" dirty="0" smtClean="0">
                <a:solidFill>
                  <a:srgbClr val="000000"/>
                </a:solidFill>
                <a:cs typeface="Arial" panose="020B0604020202020204" pitchFamily="34" charset="0"/>
              </a:rPr>
              <a:t>l’instruction  analogue “</a:t>
            </a:r>
            <a:r>
              <a:rPr lang="fr-FR" b="0" dirty="0" err="1">
                <a:solidFill>
                  <a:srgbClr val="000000"/>
                </a:solidFill>
                <a:cs typeface="Arial" panose="020B0604020202020204" pitchFamily="34" charset="0"/>
              </a:rPr>
              <a:t>df</a:t>
            </a: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 &lt;- </a:t>
            </a:r>
            <a:r>
              <a:rPr lang="fr-FR" b="0" dirty="0" err="1">
                <a:solidFill>
                  <a:srgbClr val="000000"/>
                </a:solidFill>
                <a:cs typeface="Arial" panose="020B0604020202020204" pitchFamily="34" charset="0"/>
              </a:rPr>
              <a:t>as.data</a:t>
            </a: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.table(</a:t>
            </a:r>
            <a:r>
              <a:rPr lang="fr-FR" b="0" dirty="0" err="1">
                <a:solidFill>
                  <a:srgbClr val="000000"/>
                </a:solidFill>
                <a:cs typeface="Arial" panose="020B0604020202020204" pitchFamily="34" charset="0"/>
              </a:rPr>
              <a:t>df</a:t>
            </a:r>
            <a:r>
              <a:rPr lang="fr-FR" b="0" dirty="0">
                <a:solidFill>
                  <a:srgbClr val="000000"/>
                </a:solidFill>
                <a:cs typeface="Arial" panose="020B0604020202020204" pitchFamily="34" charset="0"/>
              </a:rPr>
              <a:t>)”. </a:t>
            </a:r>
          </a:p>
        </p:txBody>
      </p:sp>
      <p:graphicFrame>
        <p:nvGraphicFramePr>
          <p:cNvPr id="87" name="Table">
            <a:extLst>
              <a:ext uri="{FF2B5EF4-FFF2-40B4-BE49-F238E27FC236}">
                <a16:creationId xmlns:a16="http://schemas.microsoft.com/office/drawing/2014/main" xmlns="" id="{1FF74F0D-F2A0-7841-AA75-D4618524CB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144983162"/>
              </p:ext>
            </p:extLst>
          </p:nvPr>
        </p:nvGraphicFramePr>
        <p:xfrm>
          <a:off x="5368489" y="7472071"/>
          <a:ext cx="6192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502943937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88" name="Line">
            <a:extLst>
              <a:ext uri="{FF2B5EF4-FFF2-40B4-BE49-F238E27FC236}">
                <a16:creationId xmlns:a16="http://schemas.microsoft.com/office/drawing/2014/main" xmlns="" id="{E6CB95F6-9D78-F442-A880-1603C5AFC93E}"/>
              </a:ext>
            </a:extLst>
          </p:cNvPr>
          <p:cNvSpPr/>
          <p:nvPr/>
        </p:nvSpPr>
        <p:spPr>
          <a:xfrm>
            <a:off x="5189493" y="7622508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89" name="Table">
            <a:extLst>
              <a:ext uri="{FF2B5EF4-FFF2-40B4-BE49-F238E27FC236}">
                <a16:creationId xmlns:a16="http://schemas.microsoft.com/office/drawing/2014/main" xmlns="" id="{91A112DE-2134-4F4B-8F5F-B7F8726579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947120919"/>
              </p:ext>
            </p:extLst>
          </p:nvPr>
        </p:nvGraphicFramePr>
        <p:xfrm>
          <a:off x="4834526" y="7472071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0" name="Use headers, colors, and/or backgrounds to separate or group together sections.">
            <a:extLst>
              <a:ext uri="{FF2B5EF4-FFF2-40B4-BE49-F238E27FC236}">
                <a16:creationId xmlns:a16="http://schemas.microsoft.com/office/drawing/2014/main" xmlns="" id="{64EDDE8B-247D-804D-86D6-0DA4CFBB0836}"/>
              </a:ext>
            </a:extLst>
          </p:cNvPr>
          <p:cNvSpPr txBox="1"/>
          <p:nvPr/>
        </p:nvSpPr>
        <p:spPr>
          <a:xfrm>
            <a:off x="6212052" y="7472071"/>
            <a:ext cx="2930556" cy="498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>
                <a:solidFill>
                  <a:srgbClr val="0070C0"/>
                </a:solidFill>
              </a:rPr>
              <a:t>`:=`(c = 1 , d = 2)</a:t>
            </a:r>
            <a:r>
              <a:rPr lang="fr-FR" b="0" dirty="0">
                <a:solidFill>
                  <a:srgbClr val="000000"/>
                </a:solidFill>
              </a:rPr>
              <a:t>] – calculer plusieurs colonnes sur </a:t>
            </a:r>
            <a:r>
              <a:rPr lang="fr-FR" b="0" dirty="0" smtClean="0">
                <a:solidFill>
                  <a:srgbClr val="000000"/>
                </a:solidFill>
              </a:rPr>
              <a:t>la base </a:t>
            </a:r>
            <a:r>
              <a:rPr lang="fr-FR" b="0" dirty="0">
                <a:solidFill>
                  <a:srgbClr val="000000"/>
                </a:solidFill>
              </a:rPr>
              <a:t>d’expressions distinctes</a:t>
            </a:r>
            <a:r>
              <a:rPr lang="en-US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91" name="Rektangel 208">
            <a:extLst>
              <a:ext uri="{FF2B5EF4-FFF2-40B4-BE49-F238E27FC236}">
                <a16:creationId xmlns:a16="http://schemas.microsoft.com/office/drawing/2014/main" xmlns="" id="{974B5E7F-6582-0649-B991-F239BD186C5C}"/>
              </a:ext>
            </a:extLst>
          </p:cNvPr>
          <p:cNvSpPr/>
          <p:nvPr/>
        </p:nvSpPr>
        <p:spPr>
          <a:xfrm>
            <a:off x="4834526" y="8172419"/>
            <a:ext cx="2185855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SUPPRIMER UNE COLONNE</a:t>
            </a:r>
          </a:p>
        </p:txBody>
      </p:sp>
      <p:sp>
        <p:nvSpPr>
          <p:cNvPr id="104" name="Line">
            <a:extLst>
              <a:ext uri="{FF2B5EF4-FFF2-40B4-BE49-F238E27FC236}">
                <a16:creationId xmlns:a16="http://schemas.microsoft.com/office/drawing/2014/main" xmlns="" id="{C99A0AD3-C8D6-0042-BB74-79F05A9CF78A}"/>
              </a:ext>
            </a:extLst>
          </p:cNvPr>
          <p:cNvSpPr/>
          <p:nvPr/>
        </p:nvSpPr>
        <p:spPr>
          <a:xfrm>
            <a:off x="4834526" y="8156704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graphicFrame>
        <p:nvGraphicFramePr>
          <p:cNvPr id="107" name="Table">
            <a:extLst>
              <a:ext uri="{FF2B5EF4-FFF2-40B4-BE49-F238E27FC236}">
                <a16:creationId xmlns:a16="http://schemas.microsoft.com/office/drawing/2014/main" xmlns="" id="{30A3FE76-DCFC-5441-BF5F-DBAC15DEB4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4222221672"/>
              </p:ext>
            </p:extLst>
          </p:nvPr>
        </p:nvGraphicFramePr>
        <p:xfrm>
          <a:off x="4834526" y="8530961"/>
          <a:ext cx="4644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11" name="Line">
            <a:extLst>
              <a:ext uri="{FF2B5EF4-FFF2-40B4-BE49-F238E27FC236}">
                <a16:creationId xmlns:a16="http://schemas.microsoft.com/office/drawing/2014/main" xmlns="" id="{3A1CA9C0-A823-714B-B5EB-8FFA934A3891}"/>
              </a:ext>
            </a:extLst>
          </p:cNvPr>
          <p:cNvSpPr/>
          <p:nvPr/>
        </p:nvSpPr>
        <p:spPr>
          <a:xfrm>
            <a:off x="5342782" y="8680153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12" name="Table">
            <a:extLst>
              <a:ext uri="{FF2B5EF4-FFF2-40B4-BE49-F238E27FC236}">
                <a16:creationId xmlns:a16="http://schemas.microsoft.com/office/drawing/2014/main" xmlns="" id="{FD98E950-86BD-E64E-AB26-B94EF840B1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4184833622"/>
              </p:ext>
            </p:extLst>
          </p:nvPr>
        </p:nvGraphicFramePr>
        <p:xfrm>
          <a:off x="5520126" y="8530961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13" name="Use headers, colors, and/or backgrounds to separate or group together sections.">
            <a:extLst>
              <a:ext uri="{FF2B5EF4-FFF2-40B4-BE49-F238E27FC236}">
                <a16:creationId xmlns:a16="http://schemas.microsoft.com/office/drawing/2014/main" xmlns="" id="{837C1E9A-B3F8-9548-9599-C06AD09A4494}"/>
              </a:ext>
            </a:extLst>
          </p:cNvPr>
          <p:cNvSpPr txBox="1"/>
          <p:nvPr/>
        </p:nvSpPr>
        <p:spPr>
          <a:xfrm>
            <a:off x="6050926" y="8530961"/>
            <a:ext cx="3091683" cy="166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>
                <a:solidFill>
                  <a:srgbClr val="0070C0"/>
                </a:solidFill>
              </a:rPr>
              <a:t>c := NULL</a:t>
            </a:r>
            <a:r>
              <a:rPr lang="fr-FR" b="0" dirty="0">
                <a:solidFill>
                  <a:srgbClr val="000000"/>
                </a:solidFill>
              </a:rPr>
              <a:t>] – supprimer la colonne </a:t>
            </a:r>
            <a:r>
              <a:rPr lang="fr-FR" dirty="0">
                <a:solidFill>
                  <a:srgbClr val="0070C0"/>
                </a:solidFill>
              </a:rPr>
              <a:t>c</a:t>
            </a:r>
            <a:r>
              <a:rPr lang="fr-FR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05" name="Rektangel 208">
            <a:extLst>
              <a:ext uri="{FF2B5EF4-FFF2-40B4-BE49-F238E27FC236}">
                <a16:creationId xmlns:a16="http://schemas.microsoft.com/office/drawing/2014/main" xmlns="" id="{18452612-F97C-954B-989F-DEA272424472}"/>
              </a:ext>
            </a:extLst>
          </p:cNvPr>
          <p:cNvSpPr/>
          <p:nvPr/>
        </p:nvSpPr>
        <p:spPr>
          <a:xfrm>
            <a:off x="4822609" y="9213929"/>
            <a:ext cx="3120406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CONVERTIR LE TYPE D’UNE COLONNE</a:t>
            </a:r>
          </a:p>
        </p:txBody>
      </p:sp>
      <p:sp>
        <p:nvSpPr>
          <p:cNvPr id="106" name="Line">
            <a:extLst>
              <a:ext uri="{FF2B5EF4-FFF2-40B4-BE49-F238E27FC236}">
                <a16:creationId xmlns:a16="http://schemas.microsoft.com/office/drawing/2014/main" xmlns="" id="{17FD2011-7A76-3C49-9049-F3E84C83FC36}"/>
              </a:ext>
            </a:extLst>
          </p:cNvPr>
          <p:cNvSpPr/>
          <p:nvPr/>
        </p:nvSpPr>
        <p:spPr>
          <a:xfrm>
            <a:off x="4822609" y="9198214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graphicFrame>
        <p:nvGraphicFramePr>
          <p:cNvPr id="114" name="Table">
            <a:extLst>
              <a:ext uri="{FF2B5EF4-FFF2-40B4-BE49-F238E27FC236}">
                <a16:creationId xmlns:a16="http://schemas.microsoft.com/office/drawing/2014/main" xmlns="" id="{AE6D207C-6C11-2E4B-A11B-85664D9B0F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4026723501"/>
              </p:ext>
            </p:extLst>
          </p:nvPr>
        </p:nvGraphicFramePr>
        <p:xfrm>
          <a:off x="4822609" y="9572471"/>
          <a:ext cx="3528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8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1.5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2.6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15" name="Line">
            <a:extLst>
              <a:ext uri="{FF2B5EF4-FFF2-40B4-BE49-F238E27FC236}">
                <a16:creationId xmlns:a16="http://schemas.microsoft.com/office/drawing/2014/main" xmlns="" id="{B80DBEBB-AB75-F142-B784-1099E3AEF695}"/>
              </a:ext>
            </a:extLst>
          </p:cNvPr>
          <p:cNvSpPr/>
          <p:nvPr/>
        </p:nvSpPr>
        <p:spPr>
          <a:xfrm>
            <a:off x="5218362" y="9725409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16" name="Table">
            <a:extLst>
              <a:ext uri="{FF2B5EF4-FFF2-40B4-BE49-F238E27FC236}">
                <a16:creationId xmlns:a16="http://schemas.microsoft.com/office/drawing/2014/main" xmlns="" id="{F960F97F-C42A-4346-B375-8BD160E75B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543408808"/>
              </p:ext>
            </p:extLst>
          </p:nvPr>
        </p:nvGraphicFramePr>
        <p:xfrm>
          <a:off x="5403507" y="9573042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1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2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17" name="Use headers, colors, and/or backgrounds to separate or group together sections.">
            <a:extLst>
              <a:ext uri="{FF2B5EF4-FFF2-40B4-BE49-F238E27FC236}">
                <a16:creationId xmlns:a16="http://schemas.microsoft.com/office/drawing/2014/main" xmlns="" id="{E0E4673A-26D6-5B45-AF21-32940D89875E}"/>
              </a:ext>
            </a:extLst>
          </p:cNvPr>
          <p:cNvSpPr txBox="1"/>
          <p:nvPr/>
        </p:nvSpPr>
        <p:spPr>
          <a:xfrm>
            <a:off x="6050926" y="9572471"/>
            <a:ext cx="3079766" cy="498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dirty="0">
                <a:solidFill>
                  <a:srgbClr val="0070C0"/>
                </a:solidFill>
              </a:rPr>
              <a:t>b := </a:t>
            </a:r>
            <a:r>
              <a:rPr lang="fr-FR" dirty="0" err="1">
                <a:solidFill>
                  <a:srgbClr val="0070C0"/>
                </a:solidFill>
              </a:rPr>
              <a:t>as.integer</a:t>
            </a:r>
            <a:r>
              <a:rPr lang="fr-FR" dirty="0">
                <a:solidFill>
                  <a:srgbClr val="0070C0"/>
                </a:solidFill>
              </a:rPr>
              <a:t>(b)</a:t>
            </a:r>
            <a:r>
              <a:rPr lang="fr-FR" b="0" dirty="0">
                <a:solidFill>
                  <a:srgbClr val="000000"/>
                </a:solidFill>
              </a:rPr>
              <a:t>] – convertir le type d’une colonne en utilisant </a:t>
            </a:r>
            <a:r>
              <a:rPr lang="fr-FR" b="0" dirty="0" err="1">
                <a:solidFill>
                  <a:srgbClr val="000000"/>
                </a:solidFill>
              </a:rPr>
              <a:t>as.integer</a:t>
            </a:r>
            <a:r>
              <a:rPr lang="fr-FR" b="0" dirty="0">
                <a:solidFill>
                  <a:srgbClr val="000000"/>
                </a:solidFill>
              </a:rPr>
              <a:t>(), </a:t>
            </a:r>
            <a:r>
              <a:rPr lang="fr-FR" b="0" dirty="0" err="1">
                <a:solidFill>
                  <a:srgbClr val="000000"/>
                </a:solidFill>
              </a:rPr>
              <a:t>as.numeric</a:t>
            </a:r>
            <a:r>
              <a:rPr lang="fr-FR" b="0" dirty="0">
                <a:solidFill>
                  <a:srgbClr val="000000"/>
                </a:solidFill>
              </a:rPr>
              <a:t>(), </a:t>
            </a:r>
            <a:r>
              <a:rPr lang="fr-FR" b="0" dirty="0" err="1">
                <a:solidFill>
                  <a:srgbClr val="000000"/>
                </a:solidFill>
              </a:rPr>
              <a:t>as.character</a:t>
            </a:r>
            <a:r>
              <a:rPr lang="fr-FR" b="0" dirty="0">
                <a:solidFill>
                  <a:srgbClr val="000000"/>
                </a:solidFill>
              </a:rPr>
              <a:t>(), </a:t>
            </a:r>
            <a:r>
              <a:rPr lang="fr-FR" b="0" dirty="0" err="1">
                <a:solidFill>
                  <a:srgbClr val="000000"/>
                </a:solidFill>
              </a:rPr>
              <a:t>as.Date</a:t>
            </a:r>
            <a:r>
              <a:rPr lang="fr-FR" b="0" dirty="0">
                <a:solidFill>
                  <a:srgbClr val="000000"/>
                </a:solidFill>
              </a:rPr>
              <a:t>(), etc..</a:t>
            </a:r>
          </a:p>
        </p:txBody>
      </p:sp>
    </p:spTree>
    <p:extLst>
      <p:ext uri="{BB962C8B-B14F-4D97-AF65-F5344CB8AC3E}">
        <p14:creationId xmlns:p14="http://schemas.microsoft.com/office/powerpoint/2010/main" xmlns="" val="26105650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Image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514"/>
          <a:stretch/>
        </p:blipFill>
        <p:spPr>
          <a:xfrm>
            <a:off x="8394984" y="0"/>
            <a:ext cx="5575016" cy="1992182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Line"/>
          <p:cNvSpPr/>
          <p:nvPr/>
        </p:nvSpPr>
        <p:spPr>
          <a:xfrm flipV="1">
            <a:off x="9359106" y="1144117"/>
            <a:ext cx="2916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" name="Rektangel 1"/>
          <p:cNvSpPr/>
          <p:nvPr/>
        </p:nvSpPr>
        <p:spPr>
          <a:xfrm>
            <a:off x="4812083" y="1179735"/>
            <a:ext cx="351058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LIER</a:t>
            </a:r>
          </a:p>
        </p:txBody>
      </p:sp>
      <p:sp>
        <p:nvSpPr>
          <p:cNvPr id="172" name="Line"/>
          <p:cNvSpPr/>
          <p:nvPr/>
        </p:nvSpPr>
        <p:spPr>
          <a:xfrm flipV="1">
            <a:off x="4812083" y="1144821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86" name="Layout Suggestions"/>
          <p:cNvSpPr txBox="1"/>
          <p:nvPr/>
        </p:nvSpPr>
        <p:spPr>
          <a:xfrm>
            <a:off x="9359107" y="1156619"/>
            <a:ext cx="2909094" cy="647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12700" rIns="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fr-FR" dirty="0">
                <a:solidFill>
                  <a:srgbClr val="393939"/>
                </a:solidFill>
              </a:rPr>
              <a:t>Fonction appliquée aux colonnes</a:t>
            </a:r>
          </a:p>
        </p:txBody>
      </p:sp>
      <p:sp>
        <p:nvSpPr>
          <p:cNvPr id="88" name="Line"/>
          <p:cNvSpPr/>
          <p:nvPr/>
        </p:nvSpPr>
        <p:spPr>
          <a:xfrm>
            <a:off x="290230" y="5156805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89" name="Logistics"/>
          <p:cNvSpPr txBox="1"/>
          <p:nvPr/>
        </p:nvSpPr>
        <p:spPr>
          <a:xfrm>
            <a:off x="290230" y="5251744"/>
            <a:ext cx="3741409" cy="3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12700" rIns="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393939"/>
                </a:solidFill>
              </a:rPr>
              <a:t>Combiner des data.tables</a:t>
            </a:r>
          </a:p>
        </p:txBody>
      </p:sp>
      <p:sp>
        <p:nvSpPr>
          <p:cNvPr id="90" name="Use headers, colors, and/or backgrounds to separate or group together sections."/>
          <p:cNvSpPr txBox="1"/>
          <p:nvPr/>
        </p:nvSpPr>
        <p:spPr>
          <a:xfrm>
            <a:off x="2026690" y="6130245"/>
            <a:ext cx="2576956" cy="55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dt_a</a:t>
            </a:r>
            <a:r>
              <a:rPr lang="fr-FR" b="0" dirty="0">
                <a:solidFill>
                  <a:srgbClr val="000000"/>
                </a:solidFill>
              </a:rPr>
              <a:t>[</a:t>
            </a:r>
            <a:r>
              <a:rPr lang="fr-FR" b="0" dirty="0" err="1">
                <a:solidFill>
                  <a:srgbClr val="000000"/>
                </a:solidFill>
              </a:rPr>
              <a:t>dt_b</a:t>
            </a:r>
            <a:r>
              <a:rPr lang="fr-FR" b="0" dirty="0">
                <a:solidFill>
                  <a:srgbClr val="000000"/>
                </a:solidFill>
              </a:rPr>
              <a:t>,</a:t>
            </a:r>
            <a:r>
              <a:rPr lang="fr-FR" dirty="0">
                <a:solidFill>
                  <a:srgbClr val="000000"/>
                </a:solidFill>
              </a:rPr>
              <a:t> on = .(b = y)</a:t>
            </a:r>
            <a:r>
              <a:rPr lang="fr-FR" b="0" dirty="0">
                <a:solidFill>
                  <a:srgbClr val="000000"/>
                </a:solidFill>
              </a:rPr>
              <a:t>] – combiner les </a:t>
            </a:r>
            <a:r>
              <a:rPr lang="fr-FR" b="0" dirty="0" err="1">
                <a:solidFill>
                  <a:srgbClr val="000000"/>
                </a:solidFill>
              </a:rPr>
              <a:t>data.tables</a:t>
            </a:r>
            <a:r>
              <a:rPr lang="fr-FR" b="0" dirty="0">
                <a:solidFill>
                  <a:srgbClr val="000000"/>
                </a:solidFill>
              </a:rPr>
              <a:t> sur </a:t>
            </a:r>
            <a:r>
              <a:rPr lang="fr-FR" b="0" dirty="0" smtClean="0">
                <a:solidFill>
                  <a:srgbClr val="000000"/>
                </a:solidFill>
              </a:rPr>
              <a:t>la base </a:t>
            </a:r>
            <a:r>
              <a:rPr lang="fr-FR" b="0" dirty="0">
                <a:solidFill>
                  <a:srgbClr val="000000"/>
                </a:solidFill>
              </a:rPr>
              <a:t>des lignes d’égales valeurs.</a:t>
            </a:r>
            <a:endParaRPr lang="fr-FR" b="0" dirty="0">
              <a:solidFill>
                <a:srgbClr val="5B6167"/>
              </a:solidFill>
            </a:endParaRPr>
          </a:p>
        </p:txBody>
      </p:sp>
      <p:graphicFrame>
        <p:nvGraphicFramePr>
          <p:cNvPr id="93" name="Table"/>
          <p:cNvGraphicFramePr/>
          <p:nvPr>
            <p:extLst>
              <p:ext uri="{D42A27DB-BD31-4B8C-83A1-F6EECF244321}">
                <p14:modId xmlns:p14="http://schemas.microsoft.com/office/powerpoint/2010/main" xmlns="" val="1471732956"/>
              </p:ext>
            </p:extLst>
          </p:nvPr>
        </p:nvGraphicFramePr>
        <p:xfrm>
          <a:off x="290230" y="6120023"/>
          <a:ext cx="309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c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98" name="Rektangel 97"/>
          <p:cNvSpPr/>
          <p:nvPr/>
        </p:nvSpPr>
        <p:spPr>
          <a:xfrm>
            <a:off x="290230" y="5784741"/>
            <a:ext cx="834125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1" indent="0"/>
            <a:r>
              <a:rPr lang="da-DK" dirty="0"/>
              <a:t>JOINTURE</a:t>
            </a:r>
          </a:p>
        </p:txBody>
      </p:sp>
      <p:sp>
        <p:nvSpPr>
          <p:cNvPr id="99" name="Line"/>
          <p:cNvSpPr/>
          <p:nvPr/>
        </p:nvSpPr>
        <p:spPr>
          <a:xfrm flipV="1">
            <a:off x="290230" y="5762633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00" name="Line"/>
          <p:cNvSpPr/>
          <p:nvPr/>
        </p:nvSpPr>
        <p:spPr>
          <a:xfrm>
            <a:off x="290230" y="7923419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01" name="Rektangel 100"/>
          <p:cNvSpPr/>
          <p:nvPr/>
        </p:nvSpPr>
        <p:spPr>
          <a:xfrm>
            <a:off x="290231" y="7945490"/>
            <a:ext cx="1819558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1" indent="0"/>
            <a:r>
              <a:rPr lang="da-DK" dirty="0"/>
              <a:t>JOINTURE GLISSANTE</a:t>
            </a:r>
          </a:p>
        </p:txBody>
      </p:sp>
      <p:graphicFrame>
        <p:nvGraphicFramePr>
          <p:cNvPr id="102" name="Table"/>
          <p:cNvGraphicFramePr/>
          <p:nvPr>
            <p:extLst>
              <p:ext uri="{D42A27DB-BD31-4B8C-83A1-F6EECF244321}">
                <p14:modId xmlns:p14="http://schemas.microsoft.com/office/powerpoint/2010/main" xmlns="" val="4132378329"/>
              </p:ext>
            </p:extLst>
          </p:nvPr>
        </p:nvGraphicFramePr>
        <p:xfrm>
          <a:off x="848284" y="6120023"/>
          <a:ext cx="309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c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3" name="Use headers, colors, and/or backgrounds to separate or group together sections."/>
          <p:cNvSpPr txBox="1"/>
          <p:nvPr/>
        </p:nvSpPr>
        <p:spPr>
          <a:xfrm>
            <a:off x="608783" y="6272399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+</a:t>
            </a:r>
          </a:p>
        </p:txBody>
      </p:sp>
      <p:graphicFrame>
        <p:nvGraphicFramePr>
          <p:cNvPr id="104" name="Table"/>
          <p:cNvGraphicFramePr/>
          <p:nvPr>
            <p:extLst>
              <p:ext uri="{D42A27DB-BD31-4B8C-83A1-F6EECF244321}">
                <p14:modId xmlns:p14="http://schemas.microsoft.com/office/powerpoint/2010/main" xmlns="" val="542972259"/>
              </p:ext>
            </p:extLst>
          </p:nvPr>
        </p:nvGraphicFramePr>
        <p:xfrm>
          <a:off x="1362215" y="6120023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c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5" name="Use headers, colors, and/or backgrounds to separate or group together sections."/>
          <p:cNvSpPr txBox="1"/>
          <p:nvPr/>
        </p:nvSpPr>
        <p:spPr>
          <a:xfrm>
            <a:off x="1145628" y="6272843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=</a:t>
            </a:r>
          </a:p>
        </p:txBody>
      </p:sp>
      <p:sp>
        <p:nvSpPr>
          <p:cNvPr id="106" name="Use headers, colors, and/or backgrounds to separate or group together sections."/>
          <p:cNvSpPr txBox="1"/>
          <p:nvPr/>
        </p:nvSpPr>
        <p:spPr>
          <a:xfrm>
            <a:off x="2556941" y="7063080"/>
            <a:ext cx="2046705" cy="71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dt_a</a:t>
            </a:r>
            <a:r>
              <a:rPr lang="fr-FR" b="0" dirty="0">
                <a:solidFill>
                  <a:srgbClr val="000000"/>
                </a:solidFill>
              </a:rPr>
              <a:t>[</a:t>
            </a:r>
            <a:r>
              <a:rPr lang="fr-FR" b="0" dirty="0" err="1">
                <a:solidFill>
                  <a:srgbClr val="000000"/>
                </a:solidFill>
              </a:rPr>
              <a:t>dt_b</a:t>
            </a:r>
            <a:r>
              <a:rPr lang="fr-FR" b="0" dirty="0">
                <a:solidFill>
                  <a:srgbClr val="000000"/>
                </a:solidFill>
              </a:rPr>
              <a:t>,</a:t>
            </a:r>
            <a:r>
              <a:rPr lang="fr-FR" dirty="0">
                <a:solidFill>
                  <a:srgbClr val="000000"/>
                </a:solidFill>
              </a:rPr>
              <a:t> on = .(b = y, c &gt; z)</a:t>
            </a:r>
            <a:r>
              <a:rPr lang="fr-FR" b="0" dirty="0">
                <a:solidFill>
                  <a:srgbClr val="000000"/>
                </a:solidFill>
              </a:rPr>
              <a:t>] – combiner les </a:t>
            </a:r>
            <a:r>
              <a:rPr lang="fr-FR" b="0" dirty="0" err="1">
                <a:solidFill>
                  <a:srgbClr val="000000"/>
                </a:solidFill>
              </a:rPr>
              <a:t>data.tables</a:t>
            </a:r>
            <a:r>
              <a:rPr lang="fr-FR" b="0" dirty="0">
                <a:solidFill>
                  <a:srgbClr val="000000"/>
                </a:solidFill>
              </a:rPr>
              <a:t> sur </a:t>
            </a:r>
            <a:r>
              <a:rPr lang="fr-FR" b="0" dirty="0" smtClean="0">
                <a:solidFill>
                  <a:srgbClr val="000000"/>
                </a:solidFill>
              </a:rPr>
              <a:t>la base des </a:t>
            </a:r>
            <a:r>
              <a:rPr lang="fr-FR" b="0" dirty="0">
                <a:solidFill>
                  <a:srgbClr val="000000"/>
                </a:solidFill>
              </a:rPr>
              <a:t>lignes de valeurs égales </a:t>
            </a:r>
            <a:r>
              <a:rPr lang="fr-FR" b="0" i="1" dirty="0">
                <a:solidFill>
                  <a:srgbClr val="000000"/>
                </a:solidFill>
              </a:rPr>
              <a:t>et différentes</a:t>
            </a:r>
            <a:r>
              <a:rPr lang="fr-FR" b="0" dirty="0">
                <a:solidFill>
                  <a:srgbClr val="000000"/>
                </a:solidFill>
              </a:rPr>
              <a:t>.</a:t>
            </a:r>
          </a:p>
        </p:txBody>
      </p:sp>
      <p:graphicFrame>
        <p:nvGraphicFramePr>
          <p:cNvPr id="107" name="Table"/>
          <p:cNvGraphicFramePr/>
          <p:nvPr>
            <p:extLst>
              <p:ext uri="{D42A27DB-BD31-4B8C-83A1-F6EECF244321}">
                <p14:modId xmlns:p14="http://schemas.microsoft.com/office/powerpoint/2010/main" xmlns="" val="2532188908"/>
              </p:ext>
            </p:extLst>
          </p:nvPr>
        </p:nvGraphicFramePr>
        <p:xfrm>
          <a:off x="290230" y="7062838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c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7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6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108" name="Table"/>
          <p:cNvGraphicFramePr/>
          <p:nvPr>
            <p:extLst>
              <p:ext uri="{D42A27DB-BD31-4B8C-83A1-F6EECF244321}">
                <p14:modId xmlns:p14="http://schemas.microsoft.com/office/powerpoint/2010/main" xmlns="" val="3345645647"/>
              </p:ext>
            </p:extLst>
          </p:nvPr>
        </p:nvGraphicFramePr>
        <p:xfrm>
          <a:off x="985135" y="7062838"/>
          <a:ext cx="457538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136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136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z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c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8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9" name="Use headers, colors, and/or backgrounds to separate or group together sections."/>
          <p:cNvSpPr txBox="1"/>
          <p:nvPr/>
        </p:nvSpPr>
        <p:spPr>
          <a:xfrm>
            <a:off x="758212" y="7215658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+</a:t>
            </a:r>
          </a:p>
        </p:txBody>
      </p:sp>
      <p:graphicFrame>
        <p:nvGraphicFramePr>
          <p:cNvPr id="110" name="Table"/>
          <p:cNvGraphicFramePr/>
          <p:nvPr>
            <p:extLst>
              <p:ext uri="{D42A27DB-BD31-4B8C-83A1-F6EECF244321}">
                <p14:modId xmlns:p14="http://schemas.microsoft.com/office/powerpoint/2010/main" xmlns="" val="3487717368"/>
              </p:ext>
            </p:extLst>
          </p:nvPr>
        </p:nvGraphicFramePr>
        <p:xfrm>
          <a:off x="1671618" y="7062838"/>
          <a:ext cx="662400" cy="6120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98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48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c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NA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8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11" name="Use headers, colors, and/or backgrounds to separate or group together sections."/>
          <p:cNvSpPr txBox="1"/>
          <p:nvPr/>
        </p:nvSpPr>
        <p:spPr>
          <a:xfrm>
            <a:off x="1469320" y="7215658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=</a:t>
            </a:r>
          </a:p>
        </p:txBody>
      </p:sp>
      <p:sp>
        <p:nvSpPr>
          <p:cNvPr id="112" name="Use headers, colors, and/or backgrounds to separate or group together sections."/>
          <p:cNvSpPr txBox="1"/>
          <p:nvPr/>
        </p:nvSpPr>
        <p:spPr>
          <a:xfrm>
            <a:off x="290230" y="9293703"/>
            <a:ext cx="4313416" cy="9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dt_a</a:t>
            </a:r>
            <a:r>
              <a:rPr lang="fr-FR" b="0" dirty="0">
                <a:solidFill>
                  <a:srgbClr val="000000"/>
                </a:solidFill>
              </a:rPr>
              <a:t>[</a:t>
            </a:r>
            <a:r>
              <a:rPr lang="fr-FR" b="0" dirty="0" err="1">
                <a:solidFill>
                  <a:srgbClr val="000000"/>
                </a:solidFill>
              </a:rPr>
              <a:t>dt_b</a:t>
            </a:r>
            <a:r>
              <a:rPr lang="fr-FR" b="0" dirty="0">
                <a:solidFill>
                  <a:srgbClr val="000000"/>
                </a:solidFill>
              </a:rPr>
              <a:t>, </a:t>
            </a:r>
            <a:r>
              <a:rPr lang="fr-FR" dirty="0">
                <a:solidFill>
                  <a:srgbClr val="000000"/>
                </a:solidFill>
              </a:rPr>
              <a:t>on = .(id = id, date = date), roll = TRUE</a:t>
            </a:r>
            <a:r>
              <a:rPr lang="fr-FR" b="0" dirty="0">
                <a:solidFill>
                  <a:srgbClr val="000000"/>
                </a:solidFill>
              </a:rPr>
              <a:t>] – combiner les </a:t>
            </a:r>
            <a:r>
              <a:rPr lang="fr-FR" b="0" dirty="0" err="1">
                <a:solidFill>
                  <a:srgbClr val="000000"/>
                </a:solidFill>
              </a:rPr>
              <a:t>data.tables</a:t>
            </a:r>
            <a:r>
              <a:rPr lang="fr-FR" b="0" dirty="0">
                <a:solidFill>
                  <a:srgbClr val="000000"/>
                </a:solidFill>
              </a:rPr>
              <a:t> pour les lignes qui correspondent dans les colonnes  id, mais ne garder que la correspondance précédente la plus récente avec la </a:t>
            </a:r>
            <a:r>
              <a:rPr lang="fr-FR" b="0" dirty="0" err="1">
                <a:solidFill>
                  <a:srgbClr val="000000"/>
                </a:solidFill>
              </a:rPr>
              <a:t>data.table</a:t>
            </a:r>
            <a:r>
              <a:rPr lang="fr-FR" b="0" dirty="0">
                <a:solidFill>
                  <a:srgbClr val="000000"/>
                </a:solidFill>
              </a:rPr>
              <a:t> de gauche en fonction des colonnes de date. </a:t>
            </a:r>
            <a:r>
              <a:rPr lang="fr-FR" b="0" dirty="0">
                <a:solidFill>
                  <a:srgbClr val="5B6167"/>
                </a:solidFill>
              </a:rPr>
              <a:t>Utiliser “roll = -</a:t>
            </a:r>
            <a:r>
              <a:rPr lang="fr-FR" b="0" dirty="0" err="1">
                <a:solidFill>
                  <a:srgbClr val="5B6167"/>
                </a:solidFill>
              </a:rPr>
              <a:t>Inf</a:t>
            </a:r>
            <a:r>
              <a:rPr lang="fr-FR" b="0" dirty="0">
                <a:solidFill>
                  <a:srgbClr val="5B6167"/>
                </a:solidFill>
              </a:rPr>
              <a:t>” pour inverser la direction.</a:t>
            </a:r>
          </a:p>
        </p:txBody>
      </p:sp>
      <p:sp>
        <p:nvSpPr>
          <p:cNvPr id="113" name="Use headers, colors, and/or backgrounds to separate or group together sections."/>
          <p:cNvSpPr txBox="1"/>
          <p:nvPr/>
        </p:nvSpPr>
        <p:spPr>
          <a:xfrm>
            <a:off x="6399640" y="1518080"/>
            <a:ext cx="2779791" cy="387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dirty="0" err="1">
                <a:solidFill>
                  <a:srgbClr val="000000"/>
                </a:solidFill>
              </a:rPr>
              <a:t>rbind</a:t>
            </a:r>
            <a:r>
              <a:rPr lang="fr-FR" dirty="0">
                <a:solidFill>
                  <a:srgbClr val="000000"/>
                </a:solidFill>
              </a:rPr>
              <a:t>(</a:t>
            </a:r>
            <a:r>
              <a:rPr lang="fr-FR" b="0" dirty="0" err="1">
                <a:solidFill>
                  <a:srgbClr val="000000"/>
                </a:solidFill>
              </a:rPr>
              <a:t>dt_a</a:t>
            </a:r>
            <a:r>
              <a:rPr lang="fr-FR" b="0" dirty="0">
                <a:solidFill>
                  <a:srgbClr val="000000"/>
                </a:solidFill>
              </a:rPr>
              <a:t>, </a:t>
            </a:r>
            <a:r>
              <a:rPr lang="fr-FR" b="0" dirty="0" err="1">
                <a:solidFill>
                  <a:srgbClr val="000000"/>
                </a:solidFill>
              </a:rPr>
              <a:t>dt_b</a:t>
            </a:r>
            <a:r>
              <a:rPr lang="fr-FR" dirty="0">
                <a:solidFill>
                  <a:srgbClr val="000000"/>
                </a:solidFill>
              </a:rPr>
              <a:t>) </a:t>
            </a:r>
            <a:r>
              <a:rPr lang="fr-FR" b="0" dirty="0">
                <a:solidFill>
                  <a:srgbClr val="000000"/>
                </a:solidFill>
              </a:rPr>
              <a:t>– combiner les lignes de deux </a:t>
            </a:r>
            <a:r>
              <a:rPr lang="fr-FR" b="0" dirty="0" err="1">
                <a:solidFill>
                  <a:srgbClr val="000000"/>
                </a:solidFill>
              </a:rPr>
              <a:t>data.tables</a:t>
            </a:r>
            <a:r>
              <a:rPr lang="fr-FR" b="0" dirty="0">
                <a:solidFill>
                  <a:srgbClr val="000000"/>
                </a:solidFill>
              </a:rPr>
              <a:t>.</a:t>
            </a:r>
            <a:endParaRPr lang="fr-FR" dirty="0">
              <a:solidFill>
                <a:srgbClr val="000000"/>
              </a:solidFill>
            </a:endParaRPr>
          </a:p>
        </p:txBody>
      </p:sp>
      <p:graphicFrame>
        <p:nvGraphicFramePr>
          <p:cNvPr id="114" name="Table"/>
          <p:cNvGraphicFramePr/>
          <p:nvPr>
            <p:extLst>
              <p:ext uri="{D42A27DB-BD31-4B8C-83A1-F6EECF244321}">
                <p14:modId xmlns:p14="http://schemas.microsoft.com/office/powerpoint/2010/main" xmlns="" val="2254977361"/>
              </p:ext>
            </p:extLst>
          </p:nvPr>
        </p:nvGraphicFramePr>
        <p:xfrm>
          <a:off x="4812083" y="1516969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15" name="Table"/>
          <p:cNvGraphicFramePr/>
          <p:nvPr>
            <p:extLst>
              <p:ext uri="{D42A27DB-BD31-4B8C-83A1-F6EECF244321}">
                <p14:modId xmlns:p14="http://schemas.microsoft.com/office/powerpoint/2010/main" xmlns="" val="2189644047"/>
              </p:ext>
            </p:extLst>
          </p:nvPr>
        </p:nvGraphicFramePr>
        <p:xfrm>
          <a:off x="5341072" y="1516969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16" name="Use headers, colors, and/or backgrounds to separate or group together sections."/>
          <p:cNvSpPr txBox="1"/>
          <p:nvPr/>
        </p:nvSpPr>
        <p:spPr>
          <a:xfrm>
            <a:off x="5121776" y="1578851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+</a:t>
            </a:r>
          </a:p>
        </p:txBody>
      </p:sp>
      <p:graphicFrame>
        <p:nvGraphicFramePr>
          <p:cNvPr id="117" name="Table"/>
          <p:cNvGraphicFramePr/>
          <p:nvPr>
            <p:extLst>
              <p:ext uri="{D42A27DB-BD31-4B8C-83A1-F6EECF244321}">
                <p14:modId xmlns:p14="http://schemas.microsoft.com/office/powerpoint/2010/main" xmlns="" val="3889289221"/>
              </p:ext>
            </p:extLst>
          </p:nvPr>
        </p:nvGraphicFramePr>
        <p:xfrm>
          <a:off x="5870651" y="1516969"/>
          <a:ext cx="309600" cy="7620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18" name="Use headers, colors, and/or backgrounds to separate or group together sections."/>
          <p:cNvSpPr txBox="1"/>
          <p:nvPr/>
        </p:nvSpPr>
        <p:spPr>
          <a:xfrm>
            <a:off x="5651320" y="1579295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=</a:t>
            </a:r>
          </a:p>
        </p:txBody>
      </p:sp>
      <p:sp>
        <p:nvSpPr>
          <p:cNvPr id="125" name="Use headers, colors, and/or backgrounds to separate or group together sections."/>
          <p:cNvSpPr txBox="1"/>
          <p:nvPr/>
        </p:nvSpPr>
        <p:spPr>
          <a:xfrm>
            <a:off x="6618891" y="2438400"/>
            <a:ext cx="2560539" cy="387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dirty="0" err="1">
                <a:solidFill>
                  <a:srgbClr val="000000"/>
                </a:solidFill>
              </a:rPr>
              <a:t>cbind</a:t>
            </a:r>
            <a:r>
              <a:rPr lang="fr-FR" dirty="0">
                <a:solidFill>
                  <a:srgbClr val="000000"/>
                </a:solidFill>
              </a:rPr>
              <a:t>(</a:t>
            </a:r>
            <a:r>
              <a:rPr lang="fr-FR" b="0" dirty="0" err="1">
                <a:solidFill>
                  <a:srgbClr val="000000"/>
                </a:solidFill>
              </a:rPr>
              <a:t>dt_a</a:t>
            </a:r>
            <a:r>
              <a:rPr lang="fr-FR" b="0" dirty="0">
                <a:solidFill>
                  <a:srgbClr val="000000"/>
                </a:solidFill>
              </a:rPr>
              <a:t>, </a:t>
            </a:r>
            <a:r>
              <a:rPr lang="fr-FR" b="0" dirty="0" err="1">
                <a:solidFill>
                  <a:srgbClr val="000000"/>
                </a:solidFill>
              </a:rPr>
              <a:t>dt_b</a:t>
            </a:r>
            <a:r>
              <a:rPr lang="fr-FR" dirty="0">
                <a:solidFill>
                  <a:srgbClr val="000000"/>
                </a:solidFill>
              </a:rPr>
              <a:t>) </a:t>
            </a:r>
            <a:r>
              <a:rPr lang="fr-FR" b="0" dirty="0">
                <a:solidFill>
                  <a:srgbClr val="000000"/>
                </a:solidFill>
              </a:rPr>
              <a:t>– combiner les colonnes de deux </a:t>
            </a:r>
            <a:r>
              <a:rPr lang="fr-FR" b="0" dirty="0" err="1">
                <a:solidFill>
                  <a:srgbClr val="000000"/>
                </a:solidFill>
              </a:rPr>
              <a:t>data.tables</a:t>
            </a:r>
            <a:r>
              <a:rPr lang="fr-FR" b="0" dirty="0">
                <a:solidFill>
                  <a:srgbClr val="000000"/>
                </a:solidFill>
              </a:rPr>
              <a:t>.</a:t>
            </a:r>
            <a:endParaRPr lang="fr-FR" dirty="0">
              <a:solidFill>
                <a:srgbClr val="000000"/>
              </a:solidFill>
            </a:endParaRPr>
          </a:p>
        </p:txBody>
      </p:sp>
      <p:graphicFrame>
        <p:nvGraphicFramePr>
          <p:cNvPr id="126" name="Table"/>
          <p:cNvGraphicFramePr/>
          <p:nvPr>
            <p:extLst>
              <p:ext uri="{D42A27DB-BD31-4B8C-83A1-F6EECF244321}">
                <p14:modId xmlns:p14="http://schemas.microsoft.com/office/powerpoint/2010/main" xmlns="" val="56398493"/>
              </p:ext>
            </p:extLst>
          </p:nvPr>
        </p:nvGraphicFramePr>
        <p:xfrm>
          <a:off x="4812083" y="2428477"/>
          <a:ext cx="309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127" name="Table"/>
          <p:cNvGraphicFramePr/>
          <p:nvPr>
            <p:extLst>
              <p:ext uri="{D42A27DB-BD31-4B8C-83A1-F6EECF244321}">
                <p14:modId xmlns:p14="http://schemas.microsoft.com/office/powerpoint/2010/main" xmlns="" val="2531597978"/>
              </p:ext>
            </p:extLst>
          </p:nvPr>
        </p:nvGraphicFramePr>
        <p:xfrm>
          <a:off x="5350597" y="2428477"/>
          <a:ext cx="307482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268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28" name="Use headers, colors, and/or backgrounds to separate or group together sections."/>
          <p:cNvSpPr txBox="1"/>
          <p:nvPr/>
        </p:nvSpPr>
        <p:spPr>
          <a:xfrm>
            <a:off x="5121776" y="2580853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+</a:t>
            </a:r>
          </a:p>
        </p:txBody>
      </p:sp>
      <p:graphicFrame>
        <p:nvGraphicFramePr>
          <p:cNvPr id="129" name="Table"/>
          <p:cNvGraphicFramePr/>
          <p:nvPr>
            <p:extLst>
              <p:ext uri="{D42A27DB-BD31-4B8C-83A1-F6EECF244321}">
                <p14:modId xmlns:p14="http://schemas.microsoft.com/office/powerpoint/2010/main" xmlns="" val="4117123109"/>
              </p:ext>
            </p:extLst>
          </p:nvPr>
        </p:nvGraphicFramePr>
        <p:xfrm>
          <a:off x="5890510" y="2428477"/>
          <a:ext cx="60549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02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02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02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30" name="Use headers, colors, and/or backgrounds to separate or group together sections."/>
          <p:cNvSpPr txBox="1"/>
          <p:nvPr/>
        </p:nvSpPr>
        <p:spPr>
          <a:xfrm>
            <a:off x="5678536" y="2581297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=</a:t>
            </a:r>
          </a:p>
        </p:txBody>
      </p:sp>
      <p:graphicFrame>
        <p:nvGraphicFramePr>
          <p:cNvPr id="42" name="Table"/>
          <p:cNvGraphicFramePr/>
          <p:nvPr>
            <p:extLst>
              <p:ext uri="{D42A27DB-BD31-4B8C-83A1-F6EECF244321}">
                <p14:modId xmlns:p14="http://schemas.microsoft.com/office/powerpoint/2010/main" xmlns="" val="2512052124"/>
              </p:ext>
            </p:extLst>
          </p:nvPr>
        </p:nvGraphicFramePr>
        <p:xfrm>
          <a:off x="290230" y="8277831"/>
          <a:ext cx="975600" cy="9144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date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01-01-2010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01-01-2010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4" name="Use headers, colors, and/or backgrounds to separate or group together sections."/>
          <p:cNvSpPr txBox="1"/>
          <p:nvPr/>
        </p:nvSpPr>
        <p:spPr>
          <a:xfrm>
            <a:off x="1260347" y="8369649"/>
            <a:ext cx="227439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+</a:t>
            </a:r>
          </a:p>
        </p:txBody>
      </p:sp>
      <p:sp>
        <p:nvSpPr>
          <p:cNvPr id="46" name="Use headers, colors, and/or backgrounds to separate or group together sections."/>
          <p:cNvSpPr txBox="1"/>
          <p:nvPr/>
        </p:nvSpPr>
        <p:spPr>
          <a:xfrm>
            <a:off x="2452047" y="8367180"/>
            <a:ext cx="236139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=</a:t>
            </a:r>
          </a:p>
        </p:txBody>
      </p:sp>
      <p:graphicFrame>
        <p:nvGraphicFramePr>
          <p:cNvPr id="47" name="Table"/>
          <p:cNvGraphicFramePr/>
          <p:nvPr>
            <p:extLst>
              <p:ext uri="{D42A27DB-BD31-4B8C-83A1-F6EECF244321}">
                <p14:modId xmlns:p14="http://schemas.microsoft.com/office/powerpoint/2010/main" xmlns="" val="954938193"/>
              </p:ext>
            </p:extLst>
          </p:nvPr>
        </p:nvGraphicFramePr>
        <p:xfrm>
          <a:off x="1487037" y="8277831"/>
          <a:ext cx="975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date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48" name="Table"/>
          <p:cNvGraphicFramePr/>
          <p:nvPr>
            <p:extLst>
              <p:ext uri="{D42A27DB-BD31-4B8C-83A1-F6EECF244321}">
                <p14:modId xmlns:p14="http://schemas.microsoft.com/office/powerpoint/2010/main" xmlns="" val="2969857371"/>
              </p:ext>
            </p:extLst>
          </p:nvPr>
        </p:nvGraphicFramePr>
        <p:xfrm>
          <a:off x="2685394" y="8277831"/>
          <a:ext cx="1123238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76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date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54" name="Use headers, colors, and/or backgrounds to separate or group together sections."/>
          <p:cNvSpPr txBox="1"/>
          <p:nvPr/>
        </p:nvSpPr>
        <p:spPr>
          <a:xfrm>
            <a:off x="290231" y="4291335"/>
            <a:ext cx="4318112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dirty="0" err="1">
                <a:solidFill>
                  <a:srgbClr val="000000"/>
                </a:solidFill>
              </a:rPr>
              <a:t>setkey</a:t>
            </a:r>
            <a:r>
              <a:rPr lang="fr-FR" dirty="0">
                <a:solidFill>
                  <a:srgbClr val="000000"/>
                </a:solidFill>
              </a:rPr>
              <a:t>(</a:t>
            </a: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, a,  b</a:t>
            </a:r>
            <a:r>
              <a:rPr lang="fr-FR" dirty="0">
                <a:solidFill>
                  <a:srgbClr val="000000"/>
                </a:solidFill>
              </a:rPr>
              <a:t>)</a:t>
            </a:r>
            <a:r>
              <a:rPr lang="fr-FR" b="0" dirty="0">
                <a:solidFill>
                  <a:srgbClr val="000000"/>
                </a:solidFill>
              </a:rPr>
              <a:t> – définir des clés pour permettre des recherches rapides et répétées dans les colonnes spécifiées en utilisant “</a:t>
            </a: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[.(value), ]” ou pour fusionner sans indiquer les colonnes à utiliser avec “</a:t>
            </a:r>
            <a:r>
              <a:rPr lang="fr-FR" b="0" dirty="0" err="1">
                <a:solidFill>
                  <a:srgbClr val="000000"/>
                </a:solidFill>
              </a:rPr>
              <a:t>dt_a</a:t>
            </a:r>
            <a:r>
              <a:rPr lang="fr-FR" b="0" dirty="0">
                <a:solidFill>
                  <a:srgbClr val="000000"/>
                </a:solidFill>
              </a:rPr>
              <a:t>[</a:t>
            </a:r>
            <a:r>
              <a:rPr lang="fr-FR" b="0" dirty="0" err="1">
                <a:solidFill>
                  <a:srgbClr val="000000"/>
                </a:solidFill>
              </a:rPr>
              <a:t>dt_b</a:t>
            </a:r>
            <a:r>
              <a:rPr lang="fr-FR" b="0" dirty="0">
                <a:solidFill>
                  <a:srgbClr val="000000"/>
                </a:solidFill>
              </a:rPr>
              <a:t>]”.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56" name="Rektangel 55"/>
          <p:cNvSpPr/>
          <p:nvPr/>
        </p:nvSpPr>
        <p:spPr>
          <a:xfrm>
            <a:off x="290230" y="4036038"/>
            <a:ext cx="1221488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DÉFINIR DES CLÉS</a:t>
            </a:r>
          </a:p>
        </p:txBody>
      </p:sp>
      <p:sp>
        <p:nvSpPr>
          <p:cNvPr id="57" name="Line"/>
          <p:cNvSpPr/>
          <p:nvPr/>
        </p:nvSpPr>
        <p:spPr>
          <a:xfrm flipV="1">
            <a:off x="290230" y="4010305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8" name="Use headers, colors, and/or backgrounds to separate or group together sections."/>
          <p:cNvSpPr txBox="1"/>
          <p:nvPr/>
        </p:nvSpPr>
        <p:spPr>
          <a:xfrm>
            <a:off x="381910" y="4507251"/>
            <a:ext cx="4318113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endParaRPr lang="en-US" b="0" dirty="0">
              <a:solidFill>
                <a:srgbClr val="000000"/>
              </a:solidFill>
            </a:endParaRPr>
          </a:p>
        </p:txBody>
      </p:sp>
      <p:sp>
        <p:nvSpPr>
          <p:cNvPr id="71" name="Line"/>
          <p:cNvSpPr/>
          <p:nvPr/>
        </p:nvSpPr>
        <p:spPr>
          <a:xfrm>
            <a:off x="4812083" y="3198167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72" name="Logistics"/>
          <p:cNvSpPr txBox="1"/>
          <p:nvPr/>
        </p:nvSpPr>
        <p:spPr>
          <a:xfrm>
            <a:off x="4812082" y="3352989"/>
            <a:ext cx="3849199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12700" rIns="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fr-FR" dirty="0">
                <a:solidFill>
                  <a:srgbClr val="393939"/>
                </a:solidFill>
              </a:rPr>
              <a:t>Restructurer </a:t>
            </a:r>
            <a:r>
              <a:rPr lang="fr-FR" dirty="0" smtClean="0">
                <a:solidFill>
                  <a:srgbClr val="393939"/>
                </a:solidFill>
              </a:rPr>
              <a:t>un </a:t>
            </a:r>
            <a:r>
              <a:rPr lang="fr-FR" dirty="0" err="1">
                <a:solidFill>
                  <a:srgbClr val="393939"/>
                </a:solidFill>
              </a:rPr>
              <a:t>data.table</a:t>
            </a:r>
            <a:endParaRPr lang="fr-FR" dirty="0">
              <a:solidFill>
                <a:srgbClr val="393939"/>
              </a:solidFill>
            </a:endParaRPr>
          </a:p>
        </p:txBody>
      </p:sp>
      <p:sp>
        <p:nvSpPr>
          <p:cNvPr id="75" name="Rektangel 74"/>
          <p:cNvSpPr/>
          <p:nvPr/>
        </p:nvSpPr>
        <p:spPr>
          <a:xfrm>
            <a:off x="4812083" y="3828608"/>
            <a:ext cx="2822205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1" indent="0"/>
            <a:r>
              <a:rPr lang="da-DK" dirty="0" smtClean="0"/>
              <a:t>RESTRUCTURER </a:t>
            </a:r>
            <a:r>
              <a:rPr lang="da-DK" dirty="0"/>
              <a:t>EN LARGEUR</a:t>
            </a:r>
          </a:p>
        </p:txBody>
      </p:sp>
      <p:sp>
        <p:nvSpPr>
          <p:cNvPr id="76" name="Line"/>
          <p:cNvSpPr/>
          <p:nvPr/>
        </p:nvSpPr>
        <p:spPr>
          <a:xfrm flipV="1">
            <a:off x="4812083" y="3808227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77" name="Line"/>
          <p:cNvSpPr/>
          <p:nvPr/>
        </p:nvSpPr>
        <p:spPr>
          <a:xfrm>
            <a:off x="4812083" y="6396261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78" name="Rektangel 77"/>
          <p:cNvSpPr/>
          <p:nvPr/>
        </p:nvSpPr>
        <p:spPr>
          <a:xfrm>
            <a:off x="4812083" y="6461298"/>
            <a:ext cx="2736480" cy="487313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1" indent="0"/>
            <a:r>
              <a:rPr lang="da-DK" dirty="0"/>
              <a:t>RESTRUCTURER EN LONGUEUR</a:t>
            </a:r>
          </a:p>
          <a:p>
            <a:pPr lvl="1" indent="0"/>
            <a:endParaRPr lang="da-DK" dirty="0"/>
          </a:p>
        </p:txBody>
      </p:sp>
      <p:sp>
        <p:nvSpPr>
          <p:cNvPr id="83" name="Use headers, colors, and/or backgrounds to separate or group together sections."/>
          <p:cNvSpPr txBox="1"/>
          <p:nvPr/>
        </p:nvSpPr>
        <p:spPr>
          <a:xfrm>
            <a:off x="6886575" y="4196929"/>
            <a:ext cx="2165155" cy="604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dirty="0" err="1">
                <a:solidFill>
                  <a:srgbClr val="000000"/>
                </a:solidFill>
              </a:rPr>
              <a:t>dcast</a:t>
            </a:r>
            <a:r>
              <a:rPr lang="en-US" dirty="0" smtClean="0">
                <a:solidFill>
                  <a:srgbClr val="000000"/>
                </a:solidFill>
              </a:rPr>
              <a:t>( </a:t>
            </a:r>
            <a:r>
              <a:rPr lang="en-US" b="0" dirty="0" err="1" smtClean="0">
                <a:solidFill>
                  <a:srgbClr val="000000"/>
                </a:solidFill>
              </a:rPr>
              <a:t>dt</a:t>
            </a:r>
            <a:r>
              <a:rPr lang="en-US" b="0" dirty="0">
                <a:solidFill>
                  <a:srgbClr val="000000"/>
                </a:solidFill>
              </a:rPr>
              <a:t>, 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           </a:t>
            </a:r>
            <a:r>
              <a:rPr lang="en-US" b="0" dirty="0" smtClean="0">
                <a:solidFill>
                  <a:srgbClr val="000000"/>
                </a:solidFill>
              </a:rPr>
              <a:t> id </a:t>
            </a:r>
            <a:r>
              <a:rPr lang="en-US" b="0" dirty="0">
                <a:solidFill>
                  <a:srgbClr val="000000"/>
                </a:solidFill>
              </a:rPr>
              <a:t>~ y,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           </a:t>
            </a:r>
            <a:r>
              <a:rPr lang="en-US" b="0" dirty="0" smtClean="0">
                <a:solidFill>
                  <a:srgbClr val="000000"/>
                </a:solidFill>
              </a:rPr>
              <a:t> value.var </a:t>
            </a:r>
            <a:r>
              <a:rPr lang="en-US" b="0" dirty="0">
                <a:solidFill>
                  <a:srgbClr val="000000"/>
                </a:solidFill>
              </a:rPr>
              <a:t>= c("a", "b</a:t>
            </a:r>
            <a:r>
              <a:rPr lang="en-US" b="0" dirty="0" smtClean="0">
                <a:solidFill>
                  <a:srgbClr val="000000"/>
                </a:solidFill>
              </a:rPr>
              <a:t>") </a:t>
            </a:r>
            <a:r>
              <a:rPr lang="en-US" dirty="0" smtClean="0">
                <a:solidFill>
                  <a:srgbClr val="000000"/>
                </a:solidFill>
              </a:rPr>
              <a:t>)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2" name="Rektangel 91"/>
          <p:cNvSpPr/>
          <p:nvPr/>
        </p:nvSpPr>
        <p:spPr>
          <a:xfrm>
            <a:off x="9359106" y="1780775"/>
            <a:ext cx="3560270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APPLIQUER UNE FONCTION À PLUSIEURS COLONNES</a:t>
            </a:r>
          </a:p>
        </p:txBody>
      </p:sp>
      <p:sp>
        <p:nvSpPr>
          <p:cNvPr id="94" name="Line"/>
          <p:cNvSpPr/>
          <p:nvPr/>
        </p:nvSpPr>
        <p:spPr>
          <a:xfrm flipV="1">
            <a:off x="9359106" y="1803621"/>
            <a:ext cx="4320000" cy="3147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F7439FF-969F-234A-B99D-79803428D342}"/>
              </a:ext>
            </a:extLst>
          </p:cNvPr>
          <p:cNvSpPr/>
          <p:nvPr/>
        </p:nvSpPr>
        <p:spPr>
          <a:xfrm>
            <a:off x="12826660" y="1684800"/>
            <a:ext cx="378000" cy="169648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a-DK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9" name="Use headers, colors, and/or backgrounds to separate or group together sections."/>
          <p:cNvSpPr txBox="1"/>
          <p:nvPr/>
        </p:nvSpPr>
        <p:spPr>
          <a:xfrm>
            <a:off x="9359106" y="2050861"/>
            <a:ext cx="4318113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endParaRPr lang="en" b="0" dirty="0">
              <a:solidFill>
                <a:srgbClr val="000000"/>
              </a:solidFill>
            </a:endParaRPr>
          </a:p>
        </p:txBody>
      </p:sp>
      <p:sp>
        <p:nvSpPr>
          <p:cNvPr id="120" name="Line"/>
          <p:cNvSpPr/>
          <p:nvPr/>
        </p:nvSpPr>
        <p:spPr>
          <a:xfrm>
            <a:off x="5473827" y="4345143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sp>
        <p:nvSpPr>
          <p:cNvPr id="121" name="Use headers, colors, and/or backgrounds to separate or group together sections."/>
          <p:cNvSpPr txBox="1"/>
          <p:nvPr/>
        </p:nvSpPr>
        <p:spPr>
          <a:xfrm>
            <a:off x="1351378" y="3285906"/>
            <a:ext cx="3256965" cy="387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dirty="0" err="1">
                <a:solidFill>
                  <a:srgbClr val="000000"/>
                </a:solidFill>
              </a:rPr>
              <a:t>setnames</a:t>
            </a:r>
            <a:r>
              <a:rPr lang="fr-FR" dirty="0">
                <a:solidFill>
                  <a:srgbClr val="000000"/>
                </a:solidFill>
              </a:rPr>
              <a:t>(</a:t>
            </a: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, c("a",</a:t>
            </a:r>
            <a:r>
              <a:rPr lang="fr-FR" b="0" dirty="0">
                <a:solidFill>
                  <a:srgbClr val="000000"/>
                </a:solidFill>
                <a:sym typeface="Source Sans Pro Light"/>
              </a:rPr>
              <a:t> </a:t>
            </a:r>
            <a:r>
              <a:rPr lang="fr-FR" b="0" dirty="0">
                <a:solidFill>
                  <a:srgbClr val="000000"/>
                </a:solidFill>
              </a:rPr>
              <a:t>"</a:t>
            </a:r>
            <a:r>
              <a:rPr lang="fr-FR" b="0" dirty="0">
                <a:solidFill>
                  <a:srgbClr val="000000"/>
                </a:solidFill>
                <a:sym typeface="Source Sans Pro Light"/>
              </a:rPr>
              <a:t>b</a:t>
            </a:r>
            <a:r>
              <a:rPr lang="fr-FR" b="0" dirty="0">
                <a:solidFill>
                  <a:srgbClr val="000000"/>
                </a:solidFill>
              </a:rPr>
              <a:t>"</a:t>
            </a:r>
            <a:r>
              <a:rPr lang="fr-FR" b="0" dirty="0">
                <a:solidFill>
                  <a:srgbClr val="000000"/>
                </a:solidFill>
                <a:sym typeface="Source Sans Pro Light"/>
              </a:rPr>
              <a:t>), c(</a:t>
            </a:r>
            <a:r>
              <a:rPr lang="fr-FR" b="0" dirty="0">
                <a:solidFill>
                  <a:srgbClr val="000000"/>
                </a:solidFill>
              </a:rPr>
              <a:t>"</a:t>
            </a:r>
            <a:r>
              <a:rPr lang="fr-FR" b="0" dirty="0">
                <a:solidFill>
                  <a:srgbClr val="000000"/>
                </a:solidFill>
                <a:sym typeface="Source Sans Pro Light"/>
              </a:rPr>
              <a:t>x</a:t>
            </a:r>
            <a:r>
              <a:rPr lang="fr-FR" b="0" dirty="0">
                <a:solidFill>
                  <a:srgbClr val="000000"/>
                </a:solidFill>
              </a:rPr>
              <a:t>"</a:t>
            </a:r>
            <a:r>
              <a:rPr lang="fr-FR" b="0" dirty="0">
                <a:solidFill>
                  <a:srgbClr val="000000"/>
                </a:solidFill>
                <a:sym typeface="Source Sans Pro Light"/>
              </a:rPr>
              <a:t>, </a:t>
            </a:r>
            <a:r>
              <a:rPr lang="fr-FR" b="0" dirty="0">
                <a:solidFill>
                  <a:srgbClr val="000000"/>
                </a:solidFill>
              </a:rPr>
              <a:t>"</a:t>
            </a:r>
            <a:r>
              <a:rPr lang="fr-FR" b="0" dirty="0">
                <a:solidFill>
                  <a:srgbClr val="000000"/>
                </a:solidFill>
                <a:sym typeface="Source Sans Pro Light"/>
              </a:rPr>
              <a:t>y</a:t>
            </a:r>
            <a:r>
              <a:rPr lang="fr-FR" b="0" dirty="0">
                <a:solidFill>
                  <a:srgbClr val="000000"/>
                </a:solidFill>
              </a:rPr>
              <a:t>")</a:t>
            </a:r>
            <a:r>
              <a:rPr lang="fr-FR" dirty="0">
                <a:solidFill>
                  <a:srgbClr val="000000"/>
                </a:solidFill>
              </a:rPr>
              <a:t>)</a:t>
            </a:r>
            <a:r>
              <a:rPr lang="fr-FR" b="0" dirty="0">
                <a:solidFill>
                  <a:srgbClr val="000000"/>
                </a:solidFill>
              </a:rPr>
              <a:t> – renommer les </a:t>
            </a:r>
            <a:r>
              <a:rPr lang="fr-FR" b="0" dirty="0" smtClean="0">
                <a:solidFill>
                  <a:srgbClr val="000000"/>
                </a:solidFill>
              </a:rPr>
              <a:t>anciennes colonnes (a, b) en (x, y)</a:t>
            </a:r>
            <a:r>
              <a:rPr lang="fr-FR" b="0" dirty="0" smtClean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fr-FR" b="0" dirty="0">
              <a:solidFill>
                <a:srgbClr val="000000"/>
              </a:solidFill>
            </a:endParaRPr>
          </a:p>
        </p:txBody>
      </p:sp>
      <p:graphicFrame>
        <p:nvGraphicFramePr>
          <p:cNvPr id="122" name="Table"/>
          <p:cNvGraphicFramePr/>
          <p:nvPr>
            <p:extLst>
              <p:ext uri="{D42A27DB-BD31-4B8C-83A1-F6EECF244321}">
                <p14:modId xmlns:p14="http://schemas.microsoft.com/office/powerpoint/2010/main" xmlns="" val="670805292"/>
              </p:ext>
            </p:extLst>
          </p:nvPr>
        </p:nvGraphicFramePr>
        <p:xfrm>
          <a:off x="821955" y="3277439"/>
          <a:ext cx="302400" cy="4572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23" name="Line"/>
          <p:cNvSpPr/>
          <p:nvPr/>
        </p:nvSpPr>
        <p:spPr>
          <a:xfrm>
            <a:off x="641045" y="3429664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24" name="Table"/>
          <p:cNvGraphicFramePr/>
          <p:nvPr>
            <p:extLst>
              <p:ext uri="{D42A27DB-BD31-4B8C-83A1-F6EECF244321}">
                <p14:modId xmlns:p14="http://schemas.microsoft.com/office/powerpoint/2010/main" xmlns="" val="3842002274"/>
              </p:ext>
            </p:extLst>
          </p:nvPr>
        </p:nvGraphicFramePr>
        <p:xfrm>
          <a:off x="290230" y="3277439"/>
          <a:ext cx="3024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31" name="Rektangel 130"/>
          <p:cNvSpPr/>
          <p:nvPr/>
        </p:nvSpPr>
        <p:spPr>
          <a:xfrm>
            <a:off x="290230" y="2952758"/>
            <a:ext cx="1886735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RENOMMER DES COLONNES</a:t>
            </a:r>
          </a:p>
        </p:txBody>
      </p:sp>
      <p:sp>
        <p:nvSpPr>
          <p:cNvPr id="132" name="Line"/>
          <p:cNvSpPr/>
          <p:nvPr/>
        </p:nvSpPr>
        <p:spPr>
          <a:xfrm>
            <a:off x="290230" y="2920301"/>
            <a:ext cx="4320000" cy="797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graphicFrame>
        <p:nvGraphicFramePr>
          <p:cNvPr id="141" name="Table"/>
          <p:cNvGraphicFramePr/>
          <p:nvPr>
            <p:extLst>
              <p:ext uri="{D42A27DB-BD31-4B8C-83A1-F6EECF244321}">
                <p14:modId xmlns:p14="http://schemas.microsoft.com/office/powerpoint/2010/main" xmlns="" val="1674421554"/>
              </p:ext>
            </p:extLst>
          </p:nvPr>
        </p:nvGraphicFramePr>
        <p:xfrm>
          <a:off x="5654932" y="4196929"/>
          <a:ext cx="1141812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24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 err="1"/>
                        <a:t>a_x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 err="1"/>
                        <a:t>a_z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 err="1"/>
                        <a:t>b_x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 err="1"/>
                        <a:t>b_z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43" name="Use headers, colors, and/or backgrounds to separate or group together sections."/>
          <p:cNvSpPr txBox="1"/>
          <p:nvPr/>
        </p:nvSpPr>
        <p:spPr>
          <a:xfrm>
            <a:off x="6834189" y="6715122"/>
            <a:ext cx="2400300" cy="905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</a:rPr>
              <a:t>melt(</a:t>
            </a:r>
            <a:r>
              <a:rPr lang="en-US" b="0" dirty="0">
                <a:solidFill>
                  <a:srgbClr val="000000"/>
                </a:solidFill>
              </a:rPr>
              <a:t>dt,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         </a:t>
            </a:r>
            <a:r>
              <a:rPr lang="en-US" b="0" dirty="0" err="1" smtClean="0">
                <a:solidFill>
                  <a:srgbClr val="000000"/>
                </a:solidFill>
              </a:rPr>
              <a:t>measure.vars</a:t>
            </a:r>
            <a:r>
              <a:rPr lang="en-US" b="0" dirty="0" smtClean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= measure ( 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             </a:t>
            </a:r>
            <a:r>
              <a:rPr lang="en-US" b="0" dirty="0" smtClean="0">
                <a:solidFill>
                  <a:srgbClr val="000000"/>
                </a:solidFill>
              </a:rPr>
              <a:t>value.name</a:t>
            </a:r>
            <a:r>
              <a:rPr lang="en-US" b="0" dirty="0">
                <a:solidFill>
                  <a:srgbClr val="000000"/>
                </a:solidFill>
              </a:rPr>
              <a:t>,  y, sep</a:t>
            </a:r>
            <a:r>
              <a:rPr lang="en-US" b="0" dirty="0" smtClean="0">
                <a:solidFill>
                  <a:srgbClr val="000000"/>
                </a:solidFill>
              </a:rPr>
              <a:t>="_") </a:t>
            </a:r>
          </a:p>
          <a:p>
            <a:pPr lvl="1" indent="0">
              <a:lnSpc>
                <a:spcPct val="90000"/>
              </a:lnSpc>
            </a:pPr>
            <a:r>
              <a:rPr lang="en-US" b="0" dirty="0" smtClean="0">
                <a:solidFill>
                  <a:srgbClr val="000000"/>
                </a:solidFill>
              </a:rPr>
              <a:t> </a:t>
            </a:r>
            <a:r>
              <a:rPr lang="en-US" b="0" dirty="0" smtClean="0">
                <a:solidFill>
                  <a:srgbClr val="000000"/>
                </a:solidFill>
              </a:rPr>
              <a:t>   </a:t>
            </a:r>
            <a:r>
              <a:rPr lang="en-US" dirty="0" smtClean="0">
                <a:solidFill>
                  <a:srgbClr val="000000"/>
                </a:solidFill>
              </a:rPr>
              <a:t>)</a:t>
            </a:r>
            <a:endParaRPr lang="en-US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endParaRPr lang="en-US" sz="1000" b="0" dirty="0">
              <a:solidFill>
                <a:srgbClr val="000000"/>
              </a:solidFill>
            </a:endParaRPr>
          </a:p>
        </p:txBody>
      </p:sp>
      <p:sp>
        <p:nvSpPr>
          <p:cNvPr id="144" name="Use headers, colors, and/or backgrounds to separate or group together sections."/>
          <p:cNvSpPr txBox="1"/>
          <p:nvPr/>
        </p:nvSpPr>
        <p:spPr>
          <a:xfrm>
            <a:off x="4812082" y="5005761"/>
            <a:ext cx="4331917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>
                <a:solidFill>
                  <a:schemeClr val="tx1">
                    <a:lumMod val="50000"/>
                  </a:schemeClr>
                </a:solidFill>
              </a:rPr>
              <a:t>Restructurer une </a:t>
            </a:r>
            <a:r>
              <a:rPr lang="fr-FR" b="0" dirty="0" err="1">
                <a:solidFill>
                  <a:schemeClr val="tx1">
                    <a:lumMod val="50000"/>
                  </a:schemeClr>
                </a:solidFill>
              </a:rPr>
              <a:t>data.table</a:t>
            </a:r>
            <a:r>
              <a:rPr lang="fr-FR" b="0" dirty="0">
                <a:solidFill>
                  <a:schemeClr val="tx1">
                    <a:lumMod val="50000"/>
                  </a:schemeClr>
                </a:solidFill>
              </a:rPr>
              <a:t> d’un format </a:t>
            </a:r>
            <a:r>
              <a:rPr lang="fr-FR" b="0" dirty="0" smtClean="0">
                <a:solidFill>
                  <a:schemeClr val="tx1">
                    <a:lumMod val="50000"/>
                  </a:schemeClr>
                </a:solidFill>
              </a:rPr>
              <a:t>long en </a:t>
            </a:r>
            <a:r>
              <a:rPr lang="fr-FR" b="0" dirty="0">
                <a:solidFill>
                  <a:schemeClr val="tx1">
                    <a:lumMod val="50000"/>
                  </a:schemeClr>
                </a:solidFill>
              </a:rPr>
              <a:t>format </a:t>
            </a:r>
            <a:r>
              <a:rPr lang="fr-FR" b="0" dirty="0" smtClean="0">
                <a:solidFill>
                  <a:schemeClr val="tx1">
                    <a:lumMod val="50000"/>
                  </a:schemeClr>
                </a:solidFill>
              </a:rPr>
              <a:t>large. </a:t>
            </a:r>
            <a:endParaRPr lang="fr-FR" b="0" dirty="0">
              <a:solidFill>
                <a:srgbClr val="000000"/>
              </a:solidFill>
            </a:endParaRPr>
          </a:p>
        </p:txBody>
      </p:sp>
      <p:graphicFrame>
        <p:nvGraphicFramePr>
          <p:cNvPr id="145" name="Table"/>
          <p:cNvGraphicFramePr/>
          <p:nvPr>
            <p:extLst>
              <p:ext uri="{D42A27DB-BD31-4B8C-83A1-F6EECF244321}">
                <p14:modId xmlns:p14="http://schemas.microsoft.com/office/powerpoint/2010/main" xmlns="" val="4066342989"/>
              </p:ext>
            </p:extLst>
          </p:nvPr>
        </p:nvGraphicFramePr>
        <p:xfrm>
          <a:off x="6107996" y="6688505"/>
          <a:ext cx="619200" cy="7620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80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15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es-ES" dirty="0">
                          <a:solidFill>
                            <a:srgbClr val="212121"/>
                          </a:solidFill>
                        </a:rPr>
                        <a:t>x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es-ES" dirty="0">
                          <a:solidFill>
                            <a:srgbClr val="212121"/>
                          </a:solidFill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es-ES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z</a:t>
                      </a: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es-ES" b="0" dirty="0">
                          <a:solidFill>
                            <a:srgbClr val="000000"/>
                          </a:solidFill>
                        </a:rPr>
                        <a:t>z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46" name="Line"/>
          <p:cNvSpPr/>
          <p:nvPr/>
        </p:nvSpPr>
        <p:spPr>
          <a:xfrm>
            <a:off x="5957051" y="6914383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47" name="Table"/>
          <p:cNvGraphicFramePr/>
          <p:nvPr>
            <p:extLst>
              <p:ext uri="{D42A27DB-BD31-4B8C-83A1-F6EECF244321}">
                <p14:modId xmlns:p14="http://schemas.microsoft.com/office/powerpoint/2010/main" xmlns="" val="44970439"/>
              </p:ext>
            </p:extLst>
          </p:nvPr>
        </p:nvGraphicFramePr>
        <p:xfrm>
          <a:off x="4807879" y="6738296"/>
          <a:ext cx="1168997" cy="512073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031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87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24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698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5052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70691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a_x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32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a_z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32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b_x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32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 err="1"/>
                        <a:t>b_z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0691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0691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48" name="Use headers, colors, and/or backgrounds to separate or group together sections."/>
          <p:cNvSpPr txBox="1"/>
          <p:nvPr/>
        </p:nvSpPr>
        <p:spPr>
          <a:xfrm>
            <a:off x="4786148" y="7477125"/>
            <a:ext cx="4253078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>
                <a:solidFill>
                  <a:schemeClr val="tx1">
                    <a:lumMod val="50000"/>
                  </a:schemeClr>
                </a:solidFill>
              </a:rPr>
              <a:t>Restructurer </a:t>
            </a:r>
            <a:r>
              <a:rPr lang="fr-FR" b="0" dirty="0" smtClean="0">
                <a:solidFill>
                  <a:schemeClr val="tx1">
                    <a:lumMod val="50000"/>
                  </a:schemeClr>
                </a:solidFill>
              </a:rPr>
              <a:t>un </a:t>
            </a:r>
            <a:r>
              <a:rPr lang="fr-FR" b="0" dirty="0" err="1">
                <a:solidFill>
                  <a:schemeClr val="tx1">
                    <a:lumMod val="50000"/>
                  </a:schemeClr>
                </a:solidFill>
              </a:rPr>
              <a:t>data.table</a:t>
            </a:r>
            <a:r>
              <a:rPr lang="fr-FR" b="0" dirty="0">
                <a:solidFill>
                  <a:schemeClr val="tx1">
                    <a:lumMod val="50000"/>
                  </a:schemeClr>
                </a:solidFill>
              </a:rPr>
              <a:t> d’un format large en format long.</a:t>
            </a:r>
          </a:p>
        </p:txBody>
      </p:sp>
      <p:sp>
        <p:nvSpPr>
          <p:cNvPr id="154" name="Line"/>
          <p:cNvSpPr/>
          <p:nvPr/>
        </p:nvSpPr>
        <p:spPr>
          <a:xfrm flipV="1">
            <a:off x="9359106" y="4370149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55" name="Layout Suggestions"/>
          <p:cNvSpPr txBox="1"/>
          <p:nvPr/>
        </p:nvSpPr>
        <p:spPr>
          <a:xfrm>
            <a:off x="9359106" y="4430923"/>
            <a:ext cx="38408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12700" rIns="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fr-FR" dirty="0">
                <a:solidFill>
                  <a:srgbClr val="393939"/>
                </a:solidFill>
              </a:rPr>
              <a:t>Lignes séquentielles</a:t>
            </a:r>
          </a:p>
        </p:txBody>
      </p:sp>
      <p:graphicFrame>
        <p:nvGraphicFramePr>
          <p:cNvPr id="96" name="Table 95">
            <a:extLst>
              <a:ext uri="{FF2B5EF4-FFF2-40B4-BE49-F238E27FC236}">
                <a16:creationId xmlns:a16="http://schemas.microsoft.com/office/drawing/2014/main" xmlns="" id="{D888ACE9-7937-1742-8112-74898F785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8517551"/>
              </p:ext>
            </p:extLst>
          </p:nvPr>
        </p:nvGraphicFramePr>
        <p:xfrm>
          <a:off x="4812083" y="5296006"/>
          <a:ext cx="4435491" cy="1026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5655">
                  <a:extLst>
                    <a:ext uri="{9D8B030D-6E8A-4147-A177-3AD203B41FA5}">
                      <a16:colId xmlns:a16="http://schemas.microsoft.com/office/drawing/2014/main" xmlns="" val="985492433"/>
                    </a:ext>
                  </a:extLst>
                </a:gridCol>
                <a:gridCol w="3639836">
                  <a:extLst>
                    <a:ext uri="{9D8B030D-6E8A-4147-A177-3AD203B41FA5}">
                      <a16:colId xmlns:a16="http://schemas.microsoft.com/office/drawing/2014/main" xmlns="" val="1441745969"/>
                    </a:ext>
                  </a:extLst>
                </a:gridCol>
              </a:tblGrid>
              <a:tr h="12326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r>
                        <a:rPr lang="fr-FR" sz="1200" b="0" noProof="0" dirty="0" err="1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dt</a:t>
                      </a:r>
                      <a:endParaRPr lang="fr-FR" sz="1200" noProof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noProof="0" dirty="0" smtClean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Un</a:t>
                      </a:r>
                      <a:r>
                        <a:rPr lang="fr-FR" sz="1200" b="0" baseline="0" noProof="0" dirty="0" smtClean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</a:t>
                      </a:r>
                      <a:r>
                        <a:rPr lang="fr-FR" sz="1200" b="0" noProof="0" dirty="0" err="1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data.table</a:t>
                      </a:r>
                      <a:r>
                        <a:rPr lang="fr-FR" sz="1200" b="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</a:t>
                      </a:r>
                      <a:endParaRPr lang="fr-FR" sz="1200" noProof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93864515"/>
                  </a:ext>
                </a:extLst>
              </a:tr>
              <a:tr h="382695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r>
                        <a:rPr lang="fr-FR" sz="1200" b="0" noProof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id ~ y</a:t>
                      </a:r>
                      <a:endParaRPr lang="fr-FR" sz="1200" noProof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Formule avec pour </a:t>
                      </a:r>
                      <a:r>
                        <a:rPr lang="fr-FR" sz="1200" b="0" noProof="0" dirty="0" smtClean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le membre de gauche </a:t>
                      </a:r>
                      <a:r>
                        <a:rPr lang="fr-FR" sz="1200" b="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: colonnes ID contenant les </a:t>
                      </a:r>
                      <a:r>
                        <a:rPr lang="fr-FR" sz="1200" b="0" noProof="0" dirty="0" err="1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IDs</a:t>
                      </a:r>
                      <a:r>
                        <a:rPr lang="fr-FR" sz="1200" b="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d’entrées multiples. Et pour membre </a:t>
                      </a:r>
                      <a:r>
                        <a:rPr lang="fr-FR" sz="1200" b="0" noProof="0" dirty="0" smtClean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 droite </a:t>
                      </a:r>
                      <a:r>
                        <a:rPr lang="fr-FR" sz="1200" b="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: les colonnes avec les valeurs à distribuer dans </a:t>
                      </a:r>
                      <a:r>
                        <a:rPr lang="fr-FR" sz="1200" b="0" noProof="0" dirty="0" smtClean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l’entête </a:t>
                      </a:r>
                      <a:r>
                        <a:rPr lang="fr-FR" sz="1200" b="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des colonnes.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52687017"/>
                  </a:ext>
                </a:extLst>
              </a:tr>
              <a:tr h="203306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r>
                        <a:rPr lang="fr-FR" sz="1200" b="0" noProof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value.var</a:t>
                      </a:r>
                      <a:endParaRPr lang="fr-FR" sz="1200" noProof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Colonnes des valeurs à mettre dans les cellules.</a:t>
                      </a:r>
                      <a:endParaRPr lang="fr-FR" sz="1200" noProof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630144068"/>
                  </a:ext>
                </a:extLst>
              </a:tr>
            </a:tbl>
          </a:graphicData>
        </a:graphic>
      </p:graphicFrame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xmlns="" id="{725F88E0-FF3D-8A4A-8ECB-854DE71CF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47704636"/>
              </p:ext>
            </p:extLst>
          </p:nvPr>
        </p:nvGraphicFramePr>
        <p:xfrm>
          <a:off x="4819485" y="7743824"/>
          <a:ext cx="4376906" cy="29204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3628">
                  <a:extLst>
                    <a:ext uri="{9D8B030D-6E8A-4147-A177-3AD203B41FA5}">
                      <a16:colId xmlns:a16="http://schemas.microsoft.com/office/drawing/2014/main" xmlns="" val="985492433"/>
                    </a:ext>
                  </a:extLst>
                </a:gridCol>
                <a:gridCol w="3343278">
                  <a:extLst>
                    <a:ext uri="{9D8B030D-6E8A-4147-A177-3AD203B41FA5}">
                      <a16:colId xmlns:a16="http://schemas.microsoft.com/office/drawing/2014/main" xmlns="" val="1441745969"/>
                    </a:ext>
                  </a:extLst>
                </a:gridCol>
              </a:tblGrid>
              <a:tr h="179892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r>
                        <a:rPr lang="fr-FR" sz="1200" b="0" dirty="0" err="1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dt</a:t>
                      </a:r>
                      <a:endParaRPr lang="fr-FR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 smtClean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Un </a:t>
                      </a:r>
                      <a:r>
                        <a:rPr lang="fr-FR" sz="1200" b="0" dirty="0" err="1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data.table</a:t>
                      </a:r>
                      <a:r>
                        <a:rPr lang="fr-FR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</a:t>
                      </a:r>
                      <a:endParaRPr lang="fr-FR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93864515"/>
                  </a:ext>
                </a:extLst>
              </a:tr>
              <a:tr h="160569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r>
                        <a:rPr lang="fr-FR" sz="1200" b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measure.vars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endParaRPr lang="fr-FR" sz="1200" b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id.vars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variable.name, value.name          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 </a:t>
                      </a:r>
                      <a:endParaRPr lang="fr-FR" sz="120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endParaRPr lang="fr-FR" sz="1200" b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Colonnes des valeurs à mettre dans</a:t>
                      </a:r>
                      <a:r>
                        <a:rPr lang="fr-FR" sz="1200" b="0" baseline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les cellules</a:t>
                      </a:r>
                      <a:r>
                        <a:rPr lang="fr-FR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</a:t>
                      </a:r>
                      <a:br>
                        <a:rPr lang="fr-FR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r>
                        <a:rPr lang="fr-FR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souvent</a:t>
                      </a:r>
                      <a:r>
                        <a:rPr lang="fr-FR" sz="1200" b="0" baseline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en utilisant </a:t>
                      </a:r>
                      <a:r>
                        <a:rPr lang="fr-FR" sz="1200" b="0" dirty="0" err="1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measure</a:t>
                      </a:r>
                      <a:r>
                        <a:rPr lang="fr-FR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() ou patterns().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Vecteur de caractères des noms des colonnes ID  (optionnel).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Noms des colonnes de sortie </a:t>
                      </a:r>
                      <a:r>
                        <a:rPr lang="fr-FR" sz="120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(optionnel).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52687017"/>
                  </a:ext>
                </a:extLst>
              </a:tr>
              <a:tr h="179892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630144068"/>
                  </a:ext>
                </a:extLst>
              </a:tr>
              <a:tr h="77508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/>
                      </a:r>
                      <a:b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US" sz="1200" b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endParaRPr lang="en-US" sz="1200" b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/>
                      </a:r>
                      <a:br>
                        <a:rPr lang="en-US" sz="120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US" sz="1200" b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087247653"/>
                  </a:ext>
                </a:extLst>
              </a:tr>
              <a:tr h="179892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058199522"/>
                  </a:ext>
                </a:extLst>
              </a:tr>
            </a:tbl>
          </a:graphicData>
        </a:graphic>
      </p:graphicFrame>
      <p:pic>
        <p:nvPicPr>
          <p:cNvPr id="134" name="Graphic 133">
            <a:extLst>
              <a:ext uri="{FF2B5EF4-FFF2-40B4-BE49-F238E27FC236}">
                <a16:creationId xmlns:a16="http://schemas.microsoft.com/office/drawing/2014/main" xmlns="" id="{9163FF8E-1C9A-C347-A90F-68E553F7FC6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359509" y="394815"/>
            <a:ext cx="1316771" cy="1316771"/>
          </a:xfrm>
          <a:prstGeom prst="rect">
            <a:avLst/>
          </a:prstGeom>
        </p:spPr>
      </p:pic>
      <p:sp>
        <p:nvSpPr>
          <p:cNvPr id="133" name="Use headers, colors, and/or backgrounds to separate or group together sections.">
            <a:extLst>
              <a:ext uri="{FF2B5EF4-FFF2-40B4-BE49-F238E27FC236}">
                <a16:creationId xmlns:a16="http://schemas.microsoft.com/office/drawing/2014/main" xmlns="" id="{0C396202-9E18-464B-BF48-226ABDFEE842}"/>
              </a:ext>
            </a:extLst>
          </p:cNvPr>
          <p:cNvSpPr txBox="1"/>
          <p:nvPr/>
        </p:nvSpPr>
        <p:spPr>
          <a:xfrm>
            <a:off x="1580240" y="1452244"/>
            <a:ext cx="3080983" cy="664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dirty="0">
                <a:solidFill>
                  <a:srgbClr val="000000"/>
                </a:solidFill>
              </a:rPr>
              <a:t>unique(</a:t>
            </a: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, by = c("a", "b")</a:t>
            </a:r>
            <a:r>
              <a:rPr lang="fr-FR" dirty="0">
                <a:solidFill>
                  <a:srgbClr val="000000"/>
                </a:solidFill>
              </a:rPr>
              <a:t>)</a:t>
            </a:r>
            <a:r>
              <a:rPr lang="fr-FR" b="0" dirty="0">
                <a:solidFill>
                  <a:srgbClr val="000000"/>
                </a:solidFill>
              </a:rPr>
              <a:t> – extraire des lignes uniques basées sur les colonnes spécifiées dans “by”. Ne pas utiliser “by” pour avoir toutes les colonnes.</a:t>
            </a:r>
          </a:p>
        </p:txBody>
      </p:sp>
      <p:graphicFrame>
        <p:nvGraphicFramePr>
          <p:cNvPr id="135" name="Table">
            <a:extLst>
              <a:ext uri="{FF2B5EF4-FFF2-40B4-BE49-F238E27FC236}">
                <a16:creationId xmlns:a16="http://schemas.microsoft.com/office/drawing/2014/main" xmlns="" id="{9C8AD6D5-DB64-C346-8A99-4F949EA9B4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508528484"/>
              </p:ext>
            </p:extLst>
          </p:nvPr>
        </p:nvGraphicFramePr>
        <p:xfrm>
          <a:off x="979688" y="1489760"/>
          <a:ext cx="453600" cy="4572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36" name="Line">
            <a:extLst>
              <a:ext uri="{FF2B5EF4-FFF2-40B4-BE49-F238E27FC236}">
                <a16:creationId xmlns:a16="http://schemas.microsoft.com/office/drawing/2014/main" xmlns="" id="{696663BE-E143-AB44-837F-761306C82E85}"/>
              </a:ext>
            </a:extLst>
          </p:cNvPr>
          <p:cNvSpPr/>
          <p:nvPr/>
        </p:nvSpPr>
        <p:spPr>
          <a:xfrm>
            <a:off x="796234" y="1642455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37" name="Table">
            <a:extLst>
              <a:ext uri="{FF2B5EF4-FFF2-40B4-BE49-F238E27FC236}">
                <a16:creationId xmlns:a16="http://schemas.microsoft.com/office/drawing/2014/main" xmlns="" id="{5069B41E-8080-4349-A966-1FC08E4E08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738896368"/>
              </p:ext>
            </p:extLst>
          </p:nvPr>
        </p:nvGraphicFramePr>
        <p:xfrm>
          <a:off x="298379" y="1489761"/>
          <a:ext cx="453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38" name="Rektangel 233">
            <a:extLst>
              <a:ext uri="{FF2B5EF4-FFF2-40B4-BE49-F238E27FC236}">
                <a16:creationId xmlns:a16="http://schemas.microsoft.com/office/drawing/2014/main" xmlns="" id="{B1705F28-49EC-904F-8301-BBB43A56FFE4}"/>
              </a:ext>
            </a:extLst>
          </p:cNvPr>
          <p:cNvSpPr/>
          <p:nvPr/>
        </p:nvSpPr>
        <p:spPr>
          <a:xfrm>
            <a:off x="298379" y="1161902"/>
            <a:ext cx="1410001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LIGNES UNIQUES</a:t>
            </a:r>
          </a:p>
        </p:txBody>
      </p:sp>
      <p:sp>
        <p:nvSpPr>
          <p:cNvPr id="139" name="Line">
            <a:extLst>
              <a:ext uri="{FF2B5EF4-FFF2-40B4-BE49-F238E27FC236}">
                <a16:creationId xmlns:a16="http://schemas.microsoft.com/office/drawing/2014/main" xmlns="" id="{ED5A95C8-3B26-F14E-BABB-4B05CA4324A0}"/>
              </a:ext>
            </a:extLst>
          </p:cNvPr>
          <p:cNvSpPr/>
          <p:nvPr/>
        </p:nvSpPr>
        <p:spPr>
          <a:xfrm>
            <a:off x="298379" y="1144017"/>
            <a:ext cx="4320000" cy="797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40" name="Rektangel 2">
            <a:extLst>
              <a:ext uri="{FF2B5EF4-FFF2-40B4-BE49-F238E27FC236}">
                <a16:creationId xmlns:a16="http://schemas.microsoft.com/office/drawing/2014/main" xmlns="" id="{DE36B239-B9D7-4B48-9C30-718452AB5C20}"/>
              </a:ext>
            </a:extLst>
          </p:cNvPr>
          <p:cNvSpPr/>
          <p:nvPr/>
        </p:nvSpPr>
        <p:spPr>
          <a:xfrm>
            <a:off x="298379" y="2300416"/>
            <a:ext cx="4320000" cy="4247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dirty="0" err="1">
                <a:solidFill>
                  <a:srgbClr val="000000"/>
                </a:solidFill>
              </a:rPr>
              <a:t>uniqueN</a:t>
            </a:r>
            <a:r>
              <a:rPr lang="fr-FR" dirty="0">
                <a:solidFill>
                  <a:srgbClr val="000000"/>
                </a:solidFill>
              </a:rPr>
              <a:t>(</a:t>
            </a: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, by = c("a", "b")</a:t>
            </a:r>
            <a:r>
              <a:rPr lang="fr-FR" dirty="0">
                <a:solidFill>
                  <a:srgbClr val="000000"/>
                </a:solidFill>
              </a:rPr>
              <a:t>)</a:t>
            </a:r>
            <a:r>
              <a:rPr lang="fr-FR" b="0" dirty="0">
                <a:solidFill>
                  <a:srgbClr val="000000"/>
                </a:solidFill>
              </a:rPr>
              <a:t> – compter le nombre de lignes uniques basées sur les colonnes spécifiées dans “by”. </a:t>
            </a:r>
          </a:p>
        </p:txBody>
      </p:sp>
      <p:sp>
        <p:nvSpPr>
          <p:cNvPr id="176" name="Line">
            <a:extLst>
              <a:ext uri="{FF2B5EF4-FFF2-40B4-BE49-F238E27FC236}">
                <a16:creationId xmlns:a16="http://schemas.microsoft.com/office/drawing/2014/main" xmlns="" id="{0E6EC67C-D120-3645-A37F-F7B0618C1CE3}"/>
              </a:ext>
            </a:extLst>
          </p:cNvPr>
          <p:cNvSpPr/>
          <p:nvPr/>
        </p:nvSpPr>
        <p:spPr>
          <a:xfrm flipV="1">
            <a:off x="9356759" y="7712117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77" name="Layout Suggestions">
            <a:extLst>
              <a:ext uri="{FF2B5EF4-FFF2-40B4-BE49-F238E27FC236}">
                <a16:creationId xmlns:a16="http://schemas.microsoft.com/office/drawing/2014/main" xmlns="" id="{3DB7DEC3-69FE-4F45-AA0A-0DEDBA8F8165}"/>
              </a:ext>
            </a:extLst>
          </p:cNvPr>
          <p:cNvSpPr txBox="1"/>
          <p:nvPr/>
        </p:nvSpPr>
        <p:spPr>
          <a:xfrm>
            <a:off x="9356759" y="7829107"/>
            <a:ext cx="38408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12700" rIns="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fr-FR" dirty="0">
                <a:solidFill>
                  <a:srgbClr val="975CBC"/>
                </a:solidFill>
              </a:rPr>
              <a:t>Lire &amp; écrire des fichiers</a:t>
            </a:r>
          </a:p>
        </p:txBody>
      </p:sp>
      <p:sp>
        <p:nvSpPr>
          <p:cNvPr id="178" name="Rektangel 155">
            <a:extLst>
              <a:ext uri="{FF2B5EF4-FFF2-40B4-BE49-F238E27FC236}">
                <a16:creationId xmlns:a16="http://schemas.microsoft.com/office/drawing/2014/main" xmlns="" id="{B038AC34-4A7A-D242-9897-3F8A428B219F}"/>
              </a:ext>
            </a:extLst>
          </p:cNvPr>
          <p:cNvSpPr/>
          <p:nvPr/>
        </p:nvSpPr>
        <p:spPr>
          <a:xfrm>
            <a:off x="9356759" y="8297181"/>
            <a:ext cx="812723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IMPORTER</a:t>
            </a:r>
          </a:p>
        </p:txBody>
      </p:sp>
      <p:sp>
        <p:nvSpPr>
          <p:cNvPr id="179" name="Line">
            <a:extLst>
              <a:ext uri="{FF2B5EF4-FFF2-40B4-BE49-F238E27FC236}">
                <a16:creationId xmlns:a16="http://schemas.microsoft.com/office/drawing/2014/main" xmlns="" id="{AC20BEC0-106F-A04E-BFF2-6EEE149FBF88}"/>
              </a:ext>
            </a:extLst>
          </p:cNvPr>
          <p:cNvSpPr/>
          <p:nvPr/>
        </p:nvSpPr>
        <p:spPr>
          <a:xfrm flipV="1">
            <a:off x="9356759" y="8239473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81" name="Use headers, colors, and/or backgrounds to separate or group together sections.">
            <a:extLst>
              <a:ext uri="{FF2B5EF4-FFF2-40B4-BE49-F238E27FC236}">
                <a16:creationId xmlns:a16="http://schemas.microsoft.com/office/drawing/2014/main" xmlns="" id="{B965A2A8-07AB-FA4A-9EF1-25CF40429C89}"/>
              </a:ext>
            </a:extLst>
          </p:cNvPr>
          <p:cNvSpPr txBox="1"/>
          <p:nvPr/>
        </p:nvSpPr>
        <p:spPr>
          <a:xfrm>
            <a:off x="9356759" y="8546207"/>
            <a:ext cx="4318113" cy="99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dirty="0" err="1">
                <a:solidFill>
                  <a:srgbClr val="000000"/>
                </a:solidFill>
              </a:rPr>
              <a:t>fread</a:t>
            </a:r>
            <a:r>
              <a:rPr lang="fr-FR" dirty="0">
                <a:solidFill>
                  <a:srgbClr val="000000"/>
                </a:solidFill>
              </a:rPr>
              <a:t>(</a:t>
            </a:r>
            <a:r>
              <a:rPr lang="fr-FR" b="0" dirty="0">
                <a:solidFill>
                  <a:srgbClr val="000000"/>
                </a:solidFill>
              </a:rPr>
              <a:t>"</a:t>
            </a:r>
            <a:r>
              <a:rPr lang="fr-FR" b="0" dirty="0" err="1">
                <a:solidFill>
                  <a:srgbClr val="000000"/>
                </a:solidFill>
              </a:rPr>
              <a:t>file.csv</a:t>
            </a:r>
            <a:r>
              <a:rPr lang="fr-FR" b="0" dirty="0">
                <a:solidFill>
                  <a:srgbClr val="000000"/>
                </a:solidFill>
              </a:rPr>
              <a:t>"</a:t>
            </a:r>
            <a:r>
              <a:rPr lang="fr-FR" dirty="0">
                <a:solidFill>
                  <a:srgbClr val="000000"/>
                </a:solidFill>
              </a:rPr>
              <a:t>) </a:t>
            </a:r>
            <a:r>
              <a:rPr lang="fr-FR" b="0" dirty="0">
                <a:solidFill>
                  <a:srgbClr val="000000"/>
                </a:solidFill>
              </a:rPr>
              <a:t>– lire les données d’un fichier de type  .csv ou .</a:t>
            </a:r>
            <a:r>
              <a:rPr lang="fr-FR" b="0" dirty="0" err="1">
                <a:solidFill>
                  <a:srgbClr val="000000"/>
                </a:solidFill>
              </a:rPr>
              <a:t>tsv</a:t>
            </a:r>
            <a:r>
              <a:rPr lang="fr-FR" b="0" dirty="0">
                <a:solidFill>
                  <a:srgbClr val="000000"/>
                </a:solidFill>
              </a:rPr>
              <a:t>, dans R. </a:t>
            </a:r>
          </a:p>
          <a:p>
            <a:pPr lvl="1" indent="0">
              <a:lnSpc>
                <a:spcPct val="90000"/>
              </a:lnSpc>
            </a:pPr>
            <a:endParaRPr lang="fr-FR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fr-FR" dirty="0" err="1">
                <a:solidFill>
                  <a:srgbClr val="000000"/>
                </a:solidFill>
              </a:rPr>
              <a:t>fread</a:t>
            </a:r>
            <a:r>
              <a:rPr lang="fr-FR" dirty="0">
                <a:solidFill>
                  <a:srgbClr val="000000"/>
                </a:solidFill>
              </a:rPr>
              <a:t>(</a:t>
            </a:r>
            <a:r>
              <a:rPr lang="fr-FR" b="0" dirty="0">
                <a:solidFill>
                  <a:srgbClr val="000000"/>
                </a:solidFill>
              </a:rPr>
              <a:t>"</a:t>
            </a:r>
            <a:r>
              <a:rPr lang="fr-FR" b="0" dirty="0" err="1">
                <a:solidFill>
                  <a:srgbClr val="000000"/>
                </a:solidFill>
              </a:rPr>
              <a:t>file.csv</a:t>
            </a:r>
            <a:r>
              <a:rPr lang="fr-FR" b="0" dirty="0">
                <a:solidFill>
                  <a:srgbClr val="000000"/>
                </a:solidFill>
              </a:rPr>
              <a:t>", select = c("a", "b")</a:t>
            </a:r>
            <a:r>
              <a:rPr lang="fr-FR" dirty="0">
                <a:solidFill>
                  <a:srgbClr val="000000"/>
                </a:solidFill>
              </a:rPr>
              <a:t>) </a:t>
            </a:r>
            <a:r>
              <a:rPr lang="fr-FR" b="0" dirty="0">
                <a:solidFill>
                  <a:srgbClr val="000000"/>
                </a:solidFill>
              </a:rPr>
              <a:t>– lire des colonnes spécifiques d’un fichier dans R.</a:t>
            </a:r>
          </a:p>
        </p:txBody>
      </p:sp>
      <p:sp>
        <p:nvSpPr>
          <p:cNvPr id="182" name="Rektangel 159">
            <a:extLst>
              <a:ext uri="{FF2B5EF4-FFF2-40B4-BE49-F238E27FC236}">
                <a16:creationId xmlns:a16="http://schemas.microsoft.com/office/drawing/2014/main" xmlns="" id="{8F960253-C848-8749-8CD3-96FCF54FF180}"/>
              </a:ext>
            </a:extLst>
          </p:cNvPr>
          <p:cNvSpPr/>
          <p:nvPr/>
        </p:nvSpPr>
        <p:spPr>
          <a:xfrm>
            <a:off x="9345890" y="9641955"/>
            <a:ext cx="846386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EXPORTER</a:t>
            </a:r>
          </a:p>
        </p:txBody>
      </p:sp>
      <p:sp>
        <p:nvSpPr>
          <p:cNvPr id="183" name="Line">
            <a:extLst>
              <a:ext uri="{FF2B5EF4-FFF2-40B4-BE49-F238E27FC236}">
                <a16:creationId xmlns:a16="http://schemas.microsoft.com/office/drawing/2014/main" xmlns="" id="{60B5A5C6-7273-C446-8A46-584A87A3B57B}"/>
              </a:ext>
            </a:extLst>
          </p:cNvPr>
          <p:cNvSpPr/>
          <p:nvPr/>
        </p:nvSpPr>
        <p:spPr>
          <a:xfrm flipV="1">
            <a:off x="9345890" y="9614828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84" name="Use headers, colors, and/or backgrounds to separate or group together sections.">
            <a:extLst>
              <a:ext uri="{FF2B5EF4-FFF2-40B4-BE49-F238E27FC236}">
                <a16:creationId xmlns:a16="http://schemas.microsoft.com/office/drawing/2014/main" xmlns="" id="{747CA66B-94D9-3948-89F6-A0F219DD4A6A}"/>
              </a:ext>
            </a:extLst>
          </p:cNvPr>
          <p:cNvSpPr txBox="1"/>
          <p:nvPr/>
        </p:nvSpPr>
        <p:spPr>
          <a:xfrm>
            <a:off x="9352880" y="9895662"/>
            <a:ext cx="4318113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dirty="0" err="1">
                <a:solidFill>
                  <a:srgbClr val="000000"/>
                </a:solidFill>
              </a:rPr>
              <a:t>fwrite</a:t>
            </a:r>
            <a:r>
              <a:rPr lang="fr-FR" dirty="0">
                <a:solidFill>
                  <a:srgbClr val="000000"/>
                </a:solidFill>
              </a:rPr>
              <a:t>(</a:t>
            </a: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, "</a:t>
            </a:r>
            <a:r>
              <a:rPr lang="fr-FR" b="0" dirty="0" err="1">
                <a:solidFill>
                  <a:srgbClr val="000000"/>
                </a:solidFill>
              </a:rPr>
              <a:t>file.csv</a:t>
            </a:r>
            <a:r>
              <a:rPr lang="fr-FR" b="0" dirty="0">
                <a:solidFill>
                  <a:srgbClr val="000000"/>
                </a:solidFill>
              </a:rPr>
              <a:t>"</a:t>
            </a:r>
            <a:r>
              <a:rPr lang="fr-FR" dirty="0">
                <a:solidFill>
                  <a:srgbClr val="000000"/>
                </a:solidFill>
              </a:rPr>
              <a:t>) </a:t>
            </a:r>
            <a:r>
              <a:rPr lang="fr-FR" b="0" dirty="0">
                <a:solidFill>
                  <a:srgbClr val="000000"/>
                </a:solidFill>
              </a:rPr>
              <a:t>– écrire les données dans un fichier depuis R. </a:t>
            </a:r>
          </a:p>
        </p:txBody>
      </p:sp>
      <p:sp>
        <p:nvSpPr>
          <p:cNvPr id="185" name="Use headers, colors, and/or backgrounds to separate or group together sections.">
            <a:extLst>
              <a:ext uri="{FF2B5EF4-FFF2-40B4-BE49-F238E27FC236}">
                <a16:creationId xmlns:a16="http://schemas.microsoft.com/office/drawing/2014/main" xmlns="" id="{AC1C5AEF-A815-8D40-A386-513D5A00ABCA}"/>
              </a:ext>
            </a:extLst>
          </p:cNvPr>
          <p:cNvSpPr txBox="1"/>
          <p:nvPr/>
        </p:nvSpPr>
        <p:spPr>
          <a:xfrm>
            <a:off x="10583859" y="5174507"/>
            <a:ext cx="3114677" cy="498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 </a:t>
            </a:r>
            <a:r>
              <a:rPr lang="fr-FR" dirty="0">
                <a:solidFill>
                  <a:srgbClr val="0070C0"/>
                </a:solidFill>
              </a:rPr>
              <a:t>c := 1:.N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>
                <a:solidFill>
                  <a:srgbClr val="B74819"/>
                </a:solidFill>
              </a:rPr>
              <a:t>by = b</a:t>
            </a:r>
            <a:r>
              <a:rPr lang="fr-FR" b="0" dirty="0">
                <a:solidFill>
                  <a:srgbClr val="000000"/>
                </a:solidFill>
              </a:rPr>
              <a:t>]</a:t>
            </a:r>
            <a:r>
              <a:rPr lang="fr-FR" dirty="0">
                <a:solidFill>
                  <a:srgbClr val="000000"/>
                </a:solidFill>
              </a:rPr>
              <a:t> </a:t>
            </a:r>
            <a:r>
              <a:rPr lang="fr-FR" b="0" dirty="0">
                <a:solidFill>
                  <a:srgbClr val="000000"/>
                </a:solidFill>
              </a:rPr>
              <a:t>– évaluer, au sein des groupes, une colonne avec des IDs de lignes séquentielles</a:t>
            </a:r>
            <a:r>
              <a:rPr lang="en-US" b="0" dirty="0">
                <a:solidFill>
                  <a:srgbClr val="000000"/>
                </a:solidFill>
              </a:rPr>
              <a:t>.</a:t>
            </a:r>
          </a:p>
        </p:txBody>
      </p:sp>
      <p:graphicFrame>
        <p:nvGraphicFramePr>
          <p:cNvPr id="188" name="Table">
            <a:extLst>
              <a:ext uri="{FF2B5EF4-FFF2-40B4-BE49-F238E27FC236}">
                <a16:creationId xmlns:a16="http://schemas.microsoft.com/office/drawing/2014/main" xmlns="" id="{DBBF6157-07E8-2448-9DEF-52F204CA03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970800801"/>
              </p:ext>
            </p:extLst>
          </p:nvPr>
        </p:nvGraphicFramePr>
        <p:xfrm>
          <a:off x="9892909" y="5174507"/>
          <a:ext cx="464400" cy="6096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1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2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06400767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1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31086346"/>
                  </a:ext>
                </a:extLst>
              </a:tr>
            </a:tbl>
          </a:graphicData>
        </a:graphic>
      </p:graphicFrame>
      <p:sp>
        <p:nvSpPr>
          <p:cNvPr id="189" name="Line">
            <a:extLst>
              <a:ext uri="{FF2B5EF4-FFF2-40B4-BE49-F238E27FC236}">
                <a16:creationId xmlns:a16="http://schemas.microsoft.com/office/drawing/2014/main" xmlns="" id="{6E740812-550F-A74A-9F29-CDD87CA6C0CC}"/>
              </a:ext>
            </a:extLst>
          </p:cNvPr>
          <p:cNvSpPr/>
          <p:nvPr/>
        </p:nvSpPr>
        <p:spPr>
          <a:xfrm>
            <a:off x="9706695" y="5332121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90" name="Table">
            <a:extLst>
              <a:ext uri="{FF2B5EF4-FFF2-40B4-BE49-F238E27FC236}">
                <a16:creationId xmlns:a16="http://schemas.microsoft.com/office/drawing/2014/main" xmlns="" id="{421648D4-4E7F-C44B-908F-938A70381E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04463635"/>
              </p:ext>
            </p:extLst>
          </p:nvPr>
        </p:nvGraphicFramePr>
        <p:xfrm>
          <a:off x="9356759" y="5174507"/>
          <a:ext cx="309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91" name="Rektangel 233">
            <a:extLst>
              <a:ext uri="{FF2B5EF4-FFF2-40B4-BE49-F238E27FC236}">
                <a16:creationId xmlns:a16="http://schemas.microsoft.com/office/drawing/2014/main" xmlns="" id="{2A2A6639-064D-F74C-BF62-FC9050054137}"/>
              </a:ext>
            </a:extLst>
          </p:cNvPr>
          <p:cNvSpPr/>
          <p:nvPr/>
        </p:nvSpPr>
        <p:spPr>
          <a:xfrm>
            <a:off x="9356759" y="4847414"/>
            <a:ext cx="1222451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IDS DE LIGNES</a:t>
            </a:r>
          </a:p>
        </p:txBody>
      </p:sp>
      <p:sp>
        <p:nvSpPr>
          <p:cNvPr id="192" name="Line">
            <a:extLst>
              <a:ext uri="{FF2B5EF4-FFF2-40B4-BE49-F238E27FC236}">
                <a16:creationId xmlns:a16="http://schemas.microsoft.com/office/drawing/2014/main" xmlns="" id="{88EEE6AE-E62A-2D4F-806F-7EA6C7B86367}"/>
              </a:ext>
            </a:extLst>
          </p:cNvPr>
          <p:cNvSpPr/>
          <p:nvPr/>
        </p:nvSpPr>
        <p:spPr>
          <a:xfrm>
            <a:off x="9356759" y="4829529"/>
            <a:ext cx="4320000" cy="797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93" name="Use headers, colors, and/or backgrounds to separate or group together sections.">
            <a:extLst>
              <a:ext uri="{FF2B5EF4-FFF2-40B4-BE49-F238E27FC236}">
                <a16:creationId xmlns:a16="http://schemas.microsoft.com/office/drawing/2014/main" xmlns="" id="{355C3CC6-3290-CE4F-9781-ABDA3E67AB7C}"/>
              </a:ext>
            </a:extLst>
          </p:cNvPr>
          <p:cNvSpPr txBox="1"/>
          <p:nvPr/>
        </p:nvSpPr>
        <p:spPr>
          <a:xfrm>
            <a:off x="10608009" y="6302376"/>
            <a:ext cx="3116286" cy="1214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 </a:t>
            </a:r>
            <a:r>
              <a:rPr lang="fr-FR" dirty="0">
                <a:solidFill>
                  <a:srgbClr val="0070C0"/>
                </a:solidFill>
              </a:rPr>
              <a:t>c := shift(a, 1)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>
                <a:solidFill>
                  <a:srgbClr val="B74819"/>
                </a:solidFill>
              </a:rPr>
              <a:t>by = b</a:t>
            </a:r>
            <a:r>
              <a:rPr lang="fr-FR" b="0" dirty="0">
                <a:solidFill>
                  <a:srgbClr val="000000"/>
                </a:solidFill>
              </a:rPr>
              <a:t>] – dupliquer, au sein des groupes, une colonne avec les lignes </a:t>
            </a:r>
            <a:r>
              <a:rPr lang="fr-FR" b="0" i="1" dirty="0">
                <a:solidFill>
                  <a:srgbClr val="000000"/>
                </a:solidFill>
              </a:rPr>
              <a:t>suivantes</a:t>
            </a:r>
            <a:r>
              <a:rPr lang="fr-FR" b="0" dirty="0">
                <a:solidFill>
                  <a:srgbClr val="000000"/>
                </a:solidFill>
              </a:rPr>
              <a:t> de la valeur spécifiée.</a:t>
            </a:r>
          </a:p>
          <a:p>
            <a:pPr lvl="1" indent="0">
              <a:lnSpc>
                <a:spcPct val="90000"/>
              </a:lnSpc>
            </a:pPr>
            <a:endParaRPr lang="fr-FR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 </a:t>
            </a:r>
            <a:r>
              <a:rPr lang="fr-FR" dirty="0">
                <a:solidFill>
                  <a:srgbClr val="0070C0"/>
                </a:solidFill>
              </a:rPr>
              <a:t>c := shift(a, 1, type = "lead")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dirty="0">
                <a:solidFill>
                  <a:srgbClr val="B74819"/>
                </a:solidFill>
              </a:rPr>
              <a:t>by = b</a:t>
            </a:r>
            <a:r>
              <a:rPr lang="fr-FR" b="0" dirty="0">
                <a:solidFill>
                  <a:srgbClr val="000000"/>
                </a:solidFill>
              </a:rPr>
              <a:t>] – dupliquer, au sein des groupes, une colonne avec les lignes </a:t>
            </a:r>
            <a:r>
              <a:rPr lang="fr-FR" b="0" i="1" dirty="0">
                <a:solidFill>
                  <a:srgbClr val="000000"/>
                </a:solidFill>
              </a:rPr>
              <a:t>précédentes</a:t>
            </a:r>
            <a:r>
              <a:rPr lang="fr-FR" b="0" dirty="0">
                <a:solidFill>
                  <a:srgbClr val="000000"/>
                </a:solidFill>
              </a:rPr>
              <a:t> de la valeur spécifiée.</a:t>
            </a:r>
          </a:p>
        </p:txBody>
      </p:sp>
      <p:graphicFrame>
        <p:nvGraphicFramePr>
          <p:cNvPr id="194" name="Table">
            <a:extLst>
              <a:ext uri="{FF2B5EF4-FFF2-40B4-BE49-F238E27FC236}">
                <a16:creationId xmlns:a16="http://schemas.microsoft.com/office/drawing/2014/main" xmlns="" id="{A351BA8C-EE4C-E046-9CFE-6F1F0D0EC1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031287073"/>
              </p:ext>
            </p:extLst>
          </p:nvPr>
        </p:nvGraphicFramePr>
        <p:xfrm>
          <a:off x="9883384" y="6302376"/>
          <a:ext cx="500400" cy="9144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8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NA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1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06400767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NA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31086346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3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76441198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4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01463207"/>
                  </a:ext>
                </a:extLst>
              </a:tr>
            </a:tbl>
          </a:graphicData>
        </a:graphic>
      </p:graphicFrame>
      <p:sp>
        <p:nvSpPr>
          <p:cNvPr id="195" name="Line">
            <a:extLst>
              <a:ext uri="{FF2B5EF4-FFF2-40B4-BE49-F238E27FC236}">
                <a16:creationId xmlns:a16="http://schemas.microsoft.com/office/drawing/2014/main" xmlns="" id="{AD863863-A2B6-5E4B-B267-EA9337690DC6}"/>
              </a:ext>
            </a:extLst>
          </p:cNvPr>
          <p:cNvSpPr/>
          <p:nvPr/>
        </p:nvSpPr>
        <p:spPr>
          <a:xfrm>
            <a:off x="9706695" y="6459990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96" name="Table">
            <a:extLst>
              <a:ext uri="{FF2B5EF4-FFF2-40B4-BE49-F238E27FC236}">
                <a16:creationId xmlns:a16="http://schemas.microsoft.com/office/drawing/2014/main" xmlns="" id="{8002CC11-4E5D-8C46-BA98-E52FC4FB12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772387896"/>
              </p:ext>
            </p:extLst>
          </p:nvPr>
        </p:nvGraphicFramePr>
        <p:xfrm>
          <a:off x="9356759" y="6302376"/>
          <a:ext cx="302400" cy="9144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32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9863067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7770057"/>
                  </a:ext>
                </a:extLst>
              </a:tr>
            </a:tbl>
          </a:graphicData>
        </a:graphic>
      </p:graphicFrame>
      <p:sp>
        <p:nvSpPr>
          <p:cNvPr id="197" name="Rektangel 233">
            <a:extLst>
              <a:ext uri="{FF2B5EF4-FFF2-40B4-BE49-F238E27FC236}">
                <a16:creationId xmlns:a16="http://schemas.microsoft.com/office/drawing/2014/main" xmlns="" id="{EADC1A11-CA6A-634C-9A77-7EAF4900A12A}"/>
              </a:ext>
            </a:extLst>
          </p:cNvPr>
          <p:cNvSpPr/>
          <p:nvPr/>
        </p:nvSpPr>
        <p:spPr>
          <a:xfrm>
            <a:off x="9356759" y="5975283"/>
            <a:ext cx="1148712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APRÈS &amp; AVANT</a:t>
            </a:r>
          </a:p>
        </p:txBody>
      </p:sp>
      <p:sp>
        <p:nvSpPr>
          <p:cNvPr id="198" name="Line">
            <a:extLst>
              <a:ext uri="{FF2B5EF4-FFF2-40B4-BE49-F238E27FC236}">
                <a16:creationId xmlns:a16="http://schemas.microsoft.com/office/drawing/2014/main" xmlns="" id="{A75F0BB1-546A-D64B-89F5-85D1F1D1792E}"/>
              </a:ext>
            </a:extLst>
          </p:cNvPr>
          <p:cNvSpPr/>
          <p:nvPr/>
        </p:nvSpPr>
        <p:spPr>
          <a:xfrm>
            <a:off x="9356759" y="5957398"/>
            <a:ext cx="4320000" cy="797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42" name="Use headers, colors, and/or backgrounds to separate or group together sections.">
            <a:extLst>
              <a:ext uri="{FF2B5EF4-FFF2-40B4-BE49-F238E27FC236}">
                <a16:creationId xmlns:a16="http://schemas.microsoft.com/office/drawing/2014/main" xmlns="" id="{9C639F80-B1BE-CC45-A383-CB91E59278DC}"/>
              </a:ext>
            </a:extLst>
          </p:cNvPr>
          <p:cNvSpPr txBox="1"/>
          <p:nvPr/>
        </p:nvSpPr>
        <p:spPr>
          <a:xfrm>
            <a:off x="10548939" y="2122337"/>
            <a:ext cx="3228974" cy="2211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 </a:t>
            </a:r>
            <a:r>
              <a:rPr lang="fr-FR" dirty="0" err="1">
                <a:solidFill>
                  <a:srgbClr val="0070C0"/>
                </a:solidFill>
              </a:rPr>
              <a:t>lapply</a:t>
            </a:r>
            <a:r>
              <a:rPr lang="fr-FR" dirty="0">
                <a:solidFill>
                  <a:srgbClr val="0070C0"/>
                </a:solidFill>
              </a:rPr>
              <a:t>(.SD, </a:t>
            </a:r>
            <a:r>
              <a:rPr lang="fr-FR" dirty="0" err="1">
                <a:solidFill>
                  <a:srgbClr val="0070C0"/>
                </a:solidFill>
              </a:rPr>
              <a:t>mean</a:t>
            </a:r>
            <a:r>
              <a:rPr lang="fr-FR" dirty="0">
                <a:solidFill>
                  <a:srgbClr val="0070C0"/>
                </a:solidFill>
              </a:rPr>
              <a:t>)</a:t>
            </a:r>
            <a:r>
              <a:rPr lang="fr-FR" dirty="0">
                <a:solidFill>
                  <a:srgbClr val="000000"/>
                </a:solidFill>
              </a:rPr>
              <a:t>, .</a:t>
            </a:r>
            <a:r>
              <a:rPr lang="fr-FR" dirty="0" err="1">
                <a:solidFill>
                  <a:srgbClr val="000000"/>
                </a:solidFill>
              </a:rPr>
              <a:t>SDcols</a:t>
            </a:r>
            <a:r>
              <a:rPr lang="fr-FR" dirty="0">
                <a:solidFill>
                  <a:srgbClr val="000000"/>
                </a:solidFill>
              </a:rPr>
              <a:t> = c(</a:t>
            </a:r>
            <a:r>
              <a:rPr lang="fr-FR" b="0" dirty="0">
                <a:solidFill>
                  <a:srgbClr val="000000"/>
                </a:solidFill>
              </a:rPr>
              <a:t>"</a:t>
            </a:r>
            <a:r>
              <a:rPr lang="fr-FR" dirty="0">
                <a:solidFill>
                  <a:srgbClr val="000000"/>
                </a:solidFill>
              </a:rPr>
              <a:t>a</a:t>
            </a:r>
            <a:r>
              <a:rPr lang="fr-FR" b="0" dirty="0">
                <a:solidFill>
                  <a:srgbClr val="000000"/>
                </a:solidFill>
              </a:rPr>
              <a:t>"</a:t>
            </a:r>
            <a:r>
              <a:rPr lang="fr-FR" dirty="0">
                <a:solidFill>
                  <a:srgbClr val="000000"/>
                </a:solidFill>
              </a:rPr>
              <a:t>, </a:t>
            </a:r>
            <a:r>
              <a:rPr lang="fr-FR" b="0" dirty="0">
                <a:solidFill>
                  <a:srgbClr val="000000"/>
                </a:solidFill>
              </a:rPr>
              <a:t>"</a:t>
            </a:r>
            <a:r>
              <a:rPr lang="fr-FR" dirty="0">
                <a:solidFill>
                  <a:srgbClr val="000000"/>
                </a:solidFill>
              </a:rPr>
              <a:t>b</a:t>
            </a:r>
            <a:r>
              <a:rPr lang="fr-FR" b="0" dirty="0">
                <a:solidFill>
                  <a:srgbClr val="000000"/>
                </a:solidFill>
              </a:rPr>
              <a:t>"</a:t>
            </a:r>
            <a:r>
              <a:rPr lang="fr-FR" dirty="0">
                <a:solidFill>
                  <a:srgbClr val="000000"/>
                </a:solidFill>
              </a:rPr>
              <a:t>)</a:t>
            </a:r>
            <a:r>
              <a:rPr lang="fr-FR" b="0" dirty="0">
                <a:solidFill>
                  <a:srgbClr val="000000"/>
                </a:solidFill>
              </a:rPr>
              <a:t>] – appliquer une fonction – telle que </a:t>
            </a:r>
            <a:r>
              <a:rPr lang="fr-FR" b="0" dirty="0" err="1">
                <a:solidFill>
                  <a:srgbClr val="000000"/>
                </a:solidFill>
              </a:rPr>
              <a:t>mean</a:t>
            </a:r>
            <a:r>
              <a:rPr lang="fr-FR" b="0" dirty="0">
                <a:solidFill>
                  <a:srgbClr val="000000"/>
                </a:solidFill>
              </a:rPr>
              <a:t>(), </a:t>
            </a:r>
            <a:r>
              <a:rPr lang="fr-FR" b="0" dirty="0" err="1">
                <a:solidFill>
                  <a:srgbClr val="000000"/>
                </a:solidFill>
              </a:rPr>
              <a:t>as.character</a:t>
            </a:r>
            <a:r>
              <a:rPr lang="fr-FR" b="0" dirty="0">
                <a:solidFill>
                  <a:srgbClr val="000000"/>
                </a:solidFill>
              </a:rPr>
              <a:t>(), </a:t>
            </a:r>
            <a:r>
              <a:rPr lang="fr-FR" b="0" dirty="0" err="1">
                <a:solidFill>
                  <a:srgbClr val="000000"/>
                </a:solidFill>
              </a:rPr>
              <a:t>which.max</a:t>
            </a:r>
            <a:r>
              <a:rPr lang="fr-FR" b="0" dirty="0">
                <a:solidFill>
                  <a:srgbClr val="000000"/>
                </a:solidFill>
              </a:rPr>
              <a:t>() – aux colonnes indiquées dans .</a:t>
            </a:r>
            <a:r>
              <a:rPr lang="fr-FR" b="0" dirty="0" err="1">
                <a:solidFill>
                  <a:srgbClr val="000000"/>
                </a:solidFill>
              </a:rPr>
              <a:t>SDcols</a:t>
            </a:r>
            <a:r>
              <a:rPr lang="fr-FR" b="0" dirty="0">
                <a:solidFill>
                  <a:srgbClr val="000000"/>
                </a:solidFill>
              </a:rPr>
              <a:t> avec </a:t>
            </a:r>
            <a:r>
              <a:rPr lang="fr-FR" b="0" dirty="0" err="1">
                <a:solidFill>
                  <a:srgbClr val="000000"/>
                </a:solidFill>
              </a:rPr>
              <a:t>lapply</a:t>
            </a:r>
            <a:r>
              <a:rPr lang="fr-FR" b="0" dirty="0">
                <a:solidFill>
                  <a:srgbClr val="000000"/>
                </a:solidFill>
              </a:rPr>
              <a:t>() et le symbole .SD . </a:t>
            </a:r>
            <a:r>
              <a:rPr lang="fr-FR" b="0" dirty="0">
                <a:solidFill>
                  <a:srgbClr val="5B6167"/>
                </a:solidFill>
              </a:rPr>
              <a:t>Fonctionne aussi avec les groupes. </a:t>
            </a:r>
          </a:p>
          <a:p>
            <a:pPr lvl="1" indent="0">
              <a:lnSpc>
                <a:spcPct val="90000"/>
              </a:lnSpc>
            </a:pPr>
            <a:endParaRPr lang="fr-FR" b="0" dirty="0">
              <a:solidFill>
                <a:srgbClr val="5B6167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fr-FR" dirty="0">
                <a:solidFill>
                  <a:srgbClr val="000000"/>
                </a:solidFill>
              </a:rPr>
              <a:t>cols &lt;- c("a")</a:t>
            </a:r>
            <a:br>
              <a:rPr lang="fr-FR" dirty="0">
                <a:solidFill>
                  <a:srgbClr val="000000"/>
                </a:solidFill>
              </a:rPr>
            </a:br>
            <a:r>
              <a:rPr lang="fr-FR" b="0" dirty="0" err="1">
                <a:solidFill>
                  <a:srgbClr val="000000"/>
                </a:solidFill>
              </a:rPr>
              <a:t>dt</a:t>
            </a:r>
            <a:r>
              <a:rPr lang="fr-FR" b="0" dirty="0">
                <a:solidFill>
                  <a:srgbClr val="000000"/>
                </a:solidFill>
              </a:rPr>
              <a:t>[, </a:t>
            </a:r>
            <a:r>
              <a:rPr lang="fr-FR" dirty="0">
                <a:solidFill>
                  <a:srgbClr val="0070C0"/>
                </a:solidFill>
              </a:rPr>
              <a:t>paste0(cols, "_m") := </a:t>
            </a:r>
            <a:r>
              <a:rPr lang="fr-FR" dirty="0" err="1">
                <a:solidFill>
                  <a:srgbClr val="0070C0"/>
                </a:solidFill>
              </a:rPr>
              <a:t>lapply</a:t>
            </a:r>
            <a:r>
              <a:rPr lang="fr-FR" dirty="0">
                <a:solidFill>
                  <a:srgbClr val="0070C0"/>
                </a:solidFill>
              </a:rPr>
              <a:t>(.SD, </a:t>
            </a:r>
            <a:r>
              <a:rPr lang="fr-FR" dirty="0" err="1">
                <a:solidFill>
                  <a:srgbClr val="0070C0"/>
                </a:solidFill>
              </a:rPr>
              <a:t>mean</a:t>
            </a:r>
            <a:r>
              <a:rPr lang="fr-FR" dirty="0">
                <a:solidFill>
                  <a:srgbClr val="0070C0"/>
                </a:solidFill>
              </a:rPr>
              <a:t>)</a:t>
            </a:r>
            <a:r>
              <a:rPr lang="fr-FR" dirty="0">
                <a:solidFill>
                  <a:srgbClr val="000000"/>
                </a:solidFill>
              </a:rPr>
              <a:t>, .</a:t>
            </a:r>
            <a:r>
              <a:rPr lang="fr-FR" dirty="0" err="1">
                <a:solidFill>
                  <a:srgbClr val="000000"/>
                </a:solidFill>
              </a:rPr>
              <a:t>SDcols</a:t>
            </a:r>
            <a:r>
              <a:rPr lang="fr-FR" dirty="0">
                <a:solidFill>
                  <a:srgbClr val="000000"/>
                </a:solidFill>
              </a:rPr>
              <a:t> = cols</a:t>
            </a:r>
            <a:r>
              <a:rPr lang="fr-FR" b="0" dirty="0">
                <a:solidFill>
                  <a:srgbClr val="000000"/>
                </a:solidFill>
              </a:rPr>
              <a:t>] – appliquer une fonction aux colonnes indiquées et </a:t>
            </a:r>
            <a:r>
              <a:rPr lang="fr-FR" b="0" dirty="0" smtClean="0">
                <a:solidFill>
                  <a:srgbClr val="000000"/>
                </a:solidFill>
              </a:rPr>
              <a:t>assigner </a:t>
            </a:r>
            <a:r>
              <a:rPr lang="fr-FR" b="0" dirty="0">
                <a:solidFill>
                  <a:srgbClr val="000000"/>
                </a:solidFill>
              </a:rPr>
              <a:t>le résultat avec les noms des variables suffixés aux données originales.</a:t>
            </a:r>
            <a:endParaRPr lang="fr-FR" b="0" dirty="0">
              <a:solidFill>
                <a:srgbClr val="5B6167"/>
              </a:solidFill>
            </a:endParaRPr>
          </a:p>
        </p:txBody>
      </p:sp>
      <p:graphicFrame>
        <p:nvGraphicFramePr>
          <p:cNvPr id="149" name="Table">
            <a:extLst>
              <a:ext uri="{FF2B5EF4-FFF2-40B4-BE49-F238E27FC236}">
                <a16:creationId xmlns:a16="http://schemas.microsoft.com/office/drawing/2014/main" xmlns="" id="{ECE8CCFE-4E7D-E64E-BC1C-FBB100EF60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900699663"/>
              </p:ext>
            </p:extLst>
          </p:nvPr>
        </p:nvGraphicFramePr>
        <p:xfrm>
          <a:off x="10034189" y="2122337"/>
          <a:ext cx="309600" cy="3048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50" name="Line">
            <a:extLst>
              <a:ext uri="{FF2B5EF4-FFF2-40B4-BE49-F238E27FC236}">
                <a16:creationId xmlns:a16="http://schemas.microsoft.com/office/drawing/2014/main" xmlns="" id="{3234ED4C-69A4-5F47-B690-D14DFFBA977E}"/>
              </a:ext>
            </a:extLst>
          </p:cNvPr>
          <p:cNvSpPr/>
          <p:nvPr/>
        </p:nvSpPr>
        <p:spPr>
          <a:xfrm>
            <a:off x="9850735" y="2275032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51" name="Table">
            <a:extLst>
              <a:ext uri="{FF2B5EF4-FFF2-40B4-BE49-F238E27FC236}">
                <a16:creationId xmlns:a16="http://schemas.microsoft.com/office/drawing/2014/main" xmlns="" id="{6389B5F2-531B-044B-A161-C22AB24AF4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821145429"/>
              </p:ext>
            </p:extLst>
          </p:nvPr>
        </p:nvGraphicFramePr>
        <p:xfrm>
          <a:off x="9352880" y="2122338"/>
          <a:ext cx="453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6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31809070"/>
                  </a:ext>
                </a:extLst>
              </a:tr>
            </a:tbl>
          </a:graphicData>
        </a:graphic>
      </p:graphicFrame>
      <p:graphicFrame>
        <p:nvGraphicFramePr>
          <p:cNvPr id="152" name="Table">
            <a:extLst>
              <a:ext uri="{FF2B5EF4-FFF2-40B4-BE49-F238E27FC236}">
                <a16:creationId xmlns:a16="http://schemas.microsoft.com/office/drawing/2014/main" xmlns="" id="{3B3DBC46-25B1-0A4A-9D1D-2EFEA449F9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4097219336"/>
              </p:ext>
            </p:extLst>
          </p:nvPr>
        </p:nvGraphicFramePr>
        <p:xfrm>
          <a:off x="9876936" y="3401496"/>
          <a:ext cx="579600" cy="6096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3799027635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 err="1"/>
                        <a:t>a_m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4663494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00910294"/>
                  </a:ext>
                </a:extLst>
              </a:tr>
            </a:tbl>
          </a:graphicData>
        </a:graphic>
      </p:graphicFrame>
      <p:sp>
        <p:nvSpPr>
          <p:cNvPr id="153" name="Line">
            <a:extLst>
              <a:ext uri="{FF2B5EF4-FFF2-40B4-BE49-F238E27FC236}">
                <a16:creationId xmlns:a16="http://schemas.microsoft.com/office/drawing/2014/main" xmlns="" id="{8F129C43-906F-3B47-AC5E-BF045351693F}"/>
              </a:ext>
            </a:extLst>
          </p:cNvPr>
          <p:cNvSpPr/>
          <p:nvPr/>
        </p:nvSpPr>
        <p:spPr>
          <a:xfrm>
            <a:off x="9693482" y="3554191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56" name="Table">
            <a:extLst>
              <a:ext uri="{FF2B5EF4-FFF2-40B4-BE49-F238E27FC236}">
                <a16:creationId xmlns:a16="http://schemas.microsoft.com/office/drawing/2014/main" xmlns="" id="{02364840-A2FB-B442-A3EA-DF23597A29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71183712"/>
              </p:ext>
            </p:extLst>
          </p:nvPr>
        </p:nvGraphicFramePr>
        <p:xfrm>
          <a:off x="9352880" y="3401497"/>
          <a:ext cx="302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31809070"/>
                  </a:ext>
                </a:extLst>
              </a:tr>
            </a:tbl>
          </a:graphicData>
        </a:graphic>
      </p:graphicFrame>
      <p:sp>
        <p:nvSpPr>
          <p:cNvPr id="5" name="Group">
            <a:extLst>
              <a:ext uri="{FF2B5EF4-FFF2-40B4-BE49-F238E27FC236}">
                <a16:creationId xmlns:a16="http://schemas.microsoft.com/office/drawing/2014/main" xmlns="" id="{C34D1DC5-7A6E-416C-B6D7-1FD21377D658}"/>
              </a:ext>
            </a:extLst>
          </p:cNvPr>
          <p:cNvSpPr/>
          <p:nvPr/>
        </p:nvSpPr>
        <p:spPr>
          <a:xfrm>
            <a:off x="4777959" y="9105900"/>
            <a:ext cx="4423191" cy="1155700"/>
          </a:xfrm>
          <a:prstGeom prst="rect">
            <a:avLst/>
          </a:prstGeom>
          <a:gradFill flip="none" rotWithShape="1">
            <a:gsLst>
              <a:gs pos="0">
                <a:srgbClr val="F3F3F3"/>
              </a:gs>
              <a:gs pos="38000">
                <a:srgbClr val="F3F3F3"/>
              </a:gs>
              <a:gs pos="100000">
                <a:schemeClr val="bg1"/>
              </a:gs>
            </a:gsLst>
            <a:lin ang="5400000" scaled="1"/>
            <a:tileRect/>
          </a:gradFill>
          <a:ln w="12700">
            <a:miter lim="400000"/>
          </a:ln>
        </p:spPr>
        <p:txBody>
          <a:bodyPr lIns="54570" tIns="54570" rIns="54570" bIns="54570" anchor="ctr"/>
          <a:lstStyle/>
          <a:p>
            <a:pPr lvl="1" indent="0"/>
            <a:r>
              <a:rPr lang="fr-FR" sz="1100" dirty="0" err="1">
                <a:solidFill>
                  <a:schemeClr val="tx1">
                    <a:lumMod val="50000"/>
                  </a:schemeClr>
                </a:solidFill>
              </a:rPr>
              <a:t>measure</a:t>
            </a:r>
            <a:r>
              <a:rPr lang="fr-FR" sz="1100" dirty="0">
                <a:solidFill>
                  <a:schemeClr val="tx1">
                    <a:lumMod val="50000"/>
                  </a:schemeClr>
                </a:solidFill>
              </a:rPr>
              <a:t>(</a:t>
            </a:r>
            <a:r>
              <a:rPr lang="fr-FR" sz="1100" b="0" dirty="0">
                <a:solidFill>
                  <a:schemeClr val="tx1">
                    <a:lumMod val="50000"/>
                  </a:schemeClr>
                </a:solidFill>
              </a:rPr>
              <a:t>out_name1, out_name2, sep="_", pattern="([ab])_(.*)"</a:t>
            </a:r>
            <a:r>
              <a:rPr lang="fr-FR" sz="1100" dirty="0">
                <a:solidFill>
                  <a:schemeClr val="tx1">
                    <a:lumMod val="50000"/>
                  </a:schemeClr>
                </a:solidFill>
              </a:rPr>
              <a:t>)</a:t>
            </a:r>
            <a:br>
              <a:rPr lang="fr-FR" sz="11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fr-FR" sz="11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sep</a:t>
            </a:r>
            <a:r>
              <a:rPr lang="fr-FR" sz="1100" b="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(séparateur) ou pattern (expression régulière) utilisés pour spécifier les colonnes à restructurer en </a:t>
            </a:r>
            <a:r>
              <a:rPr lang="fr-FR" sz="1100" b="0" dirty="0" smtClean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analysant les </a:t>
            </a:r>
            <a:r>
              <a:rPr lang="fr-FR" sz="1100" b="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noms </a:t>
            </a:r>
            <a:r>
              <a:rPr lang="fr-FR" sz="1100" b="0" dirty="0" smtClean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des colonnes </a:t>
            </a:r>
            <a:r>
              <a:rPr lang="fr-FR" sz="1100" b="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d’entrée.</a:t>
            </a:r>
          </a:p>
          <a:p>
            <a:pPr lvl="1" indent="0">
              <a:lnSpc>
                <a:spcPct val="90000"/>
              </a:lnSpc>
            </a:pPr>
            <a:r>
              <a:rPr lang="fr-FR" sz="1100" b="0" i="0" dirty="0">
                <a:solidFill>
                  <a:schemeClr val="tx1">
                    <a:lumMod val="50000"/>
                  </a:schemeClr>
                </a:solidFill>
                <a:effectLst/>
                <a:latin typeface="-apple-system"/>
              </a:rPr>
              <a:t>out_name1, out_name2: noms des colonnes de sortie (crée une colonne à valeur </a:t>
            </a:r>
            <a:r>
              <a:rPr lang="fr-FR" sz="1100" b="0" dirty="0">
                <a:solidFill>
                  <a:schemeClr val="tx1">
                    <a:lumMod val="50000"/>
                  </a:schemeClr>
                </a:solidFill>
                <a:latin typeface="-apple-system"/>
              </a:rPr>
              <a:t>unique</a:t>
            </a:r>
            <a:r>
              <a:rPr lang="fr-FR" sz="1100" b="0" i="0" dirty="0">
                <a:solidFill>
                  <a:schemeClr val="tx1">
                    <a:lumMod val="50000"/>
                  </a:schemeClr>
                </a:solidFill>
                <a:effectLst/>
                <a:latin typeface="-apple-system"/>
              </a:rPr>
              <a:t>), ou </a:t>
            </a:r>
            <a:r>
              <a:rPr lang="fr-FR" sz="1100" b="0" i="0" dirty="0" err="1">
                <a:solidFill>
                  <a:schemeClr val="tx1">
                    <a:lumMod val="50000"/>
                  </a:schemeClr>
                </a:solidFill>
                <a:effectLst/>
                <a:latin typeface="-apple-system"/>
              </a:rPr>
              <a:t>value.name</a:t>
            </a:r>
            <a:r>
              <a:rPr lang="fr-FR" sz="1100" b="0" i="0" dirty="0">
                <a:solidFill>
                  <a:schemeClr val="tx1">
                    <a:lumMod val="50000"/>
                  </a:schemeClr>
                </a:solidFill>
                <a:effectLst/>
                <a:latin typeface="-apple-system"/>
              </a:rPr>
              <a:t> (crée des colonnes de valeurs pour chaque partie unique du nom de la colonne restructurée).</a:t>
            </a:r>
            <a:endParaRPr lang="fr-FR" sz="1100" b="0" dirty="0">
              <a:solidFill>
                <a:schemeClr val="tx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xmlns="" id="{CE069E83-3E33-9D9C-EFA8-8DED9E3E61E7}"/>
              </a:ext>
            </a:extLst>
          </p:cNvPr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949494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B48A5EEB-6359-A27C-C1B7-99F9D053C0C7}"/>
              </a:ext>
            </a:extLst>
          </p:cNvPr>
          <p:cNvSpPr txBox="1"/>
          <p:nvPr/>
        </p:nvSpPr>
        <p:spPr>
          <a:xfrm>
            <a:off x="3493994" y="5258254"/>
            <a:ext cx="6987988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5B6167"/>
                </a:solidFill>
              </a:rPr>
              <a:t>– </a:t>
            </a:r>
            <a:endParaRPr lang="fr-FR" dirty="0"/>
          </a:p>
        </p:txBody>
      </p:sp>
      <p:sp>
        <p:nvSpPr>
          <p:cNvPr id="8" name="RStudio® is a trademark of RStudio, Inc.  •  CC BY SA Your Name •  your@email.com  •  844-448-1212 • your.website.com •  Learn more at webpage or vignette   •  package version  0.5.0 •  Updated: 2017-01">
            <a:extLst>
              <a:ext uri="{FF2B5EF4-FFF2-40B4-BE49-F238E27FC236}">
                <a16:creationId xmlns:a16="http://schemas.microsoft.com/office/drawing/2014/main" xmlns="" id="{23F2592A-5BD6-E434-6796-425B8822AE1B}"/>
              </a:ext>
            </a:extLst>
          </p:cNvPr>
          <p:cNvSpPr txBox="1"/>
          <p:nvPr/>
        </p:nvSpPr>
        <p:spPr>
          <a:xfrm>
            <a:off x="275721" y="10347903"/>
            <a:ext cx="13400517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fr-FR" dirty="0">
                <a:solidFill>
                  <a:srgbClr val="5B6167"/>
                </a:solidFill>
              </a:rPr>
              <a:t>Créé par Erik </a:t>
            </a:r>
            <a:r>
              <a:rPr lang="fr-FR" dirty="0" err="1" smtClean="0">
                <a:solidFill>
                  <a:srgbClr val="5B6167"/>
                </a:solidFill>
              </a:rPr>
              <a:t>Petrovsky</a:t>
            </a:r>
            <a:r>
              <a:rPr lang="fr-FR" dirty="0" smtClean="0">
                <a:solidFill>
                  <a:srgbClr val="5B6167"/>
                </a:solidFill>
              </a:rPr>
              <a:t> </a:t>
            </a:r>
            <a:r>
              <a:rPr lang="fr-FR" dirty="0">
                <a:solidFill>
                  <a:srgbClr val="5B6167"/>
                </a:solidFill>
              </a:rPr>
              <a:t>et </a:t>
            </a:r>
            <a:r>
              <a:rPr lang="fr-FR" dirty="0" err="1">
                <a:solidFill>
                  <a:srgbClr val="5B6167"/>
                </a:solidFill>
              </a:rPr>
              <a:t>Mara</a:t>
            </a:r>
            <a:r>
              <a:rPr lang="fr-FR" dirty="0">
                <a:solidFill>
                  <a:srgbClr val="5B6167"/>
                </a:solidFill>
              </a:rPr>
              <a:t> </a:t>
            </a:r>
            <a:r>
              <a:rPr lang="fr-FR" dirty="0" err="1">
                <a:solidFill>
                  <a:srgbClr val="5B6167"/>
                </a:solidFill>
              </a:rPr>
              <a:t>Destefanis</a:t>
            </a:r>
            <a:r>
              <a:rPr lang="fr-FR" dirty="0">
                <a:solidFill>
                  <a:srgbClr val="5B6167"/>
                </a:solidFill>
              </a:rPr>
              <a:t> – maragdestefanis@gmail.com</a:t>
            </a:r>
            <a:r>
              <a:rPr lang="fr-FR" dirty="0">
                <a:solidFill>
                  <a:srgbClr val="757878"/>
                </a:solidFill>
              </a:rPr>
              <a:t> </a:t>
            </a:r>
            <a:r>
              <a:rPr lang="fr-FR" dirty="0" smtClean="0">
                <a:solidFill>
                  <a:srgbClr val="5B6167"/>
                </a:solidFill>
              </a:rPr>
              <a:t>• Traduit par Christian </a:t>
            </a:r>
            <a:r>
              <a:rPr lang="fr-FR" dirty="0" err="1" smtClean="0">
                <a:solidFill>
                  <a:srgbClr val="5B6167"/>
                </a:solidFill>
              </a:rPr>
              <a:t>Wiat</a:t>
            </a:r>
            <a:r>
              <a:rPr lang="fr-FR" dirty="0" smtClean="0">
                <a:solidFill>
                  <a:srgbClr val="5B6167"/>
                </a:solidFill>
              </a:rPr>
              <a:t> – w9204-rs@yahoo.com • Voir la </a:t>
            </a:r>
            <a:r>
              <a:rPr lang="fr-FR" dirty="0" smtClean="0">
                <a:solidFill>
                  <a:srgbClr val="5B6167"/>
                </a:solidFill>
                <a:hlinkClick r:id="rId5">
                  <a:extLst>
                    <a:ext uri="{A12FA001-AC4F-418D-AE19-62706E023703}">
                      <ahyp:hlinkClr xmlns="" xmlns:ahyp="http://schemas.microsoft.com/office/drawing/2018/hyperlinkcolor" xmlns:lc="http://schemas.openxmlformats.org/drawingml/2006/lockedCanvas" val="tx"/>
                    </a:ext>
                  </a:extLst>
                </a:hlinkClick>
              </a:rPr>
              <a:t>page d’accueil</a:t>
            </a:r>
            <a:r>
              <a:rPr lang="fr-FR" dirty="0" smtClean="0">
                <a:solidFill>
                  <a:srgbClr val="5B6167"/>
                </a:solidFill>
              </a:rPr>
              <a:t> ou la </a:t>
            </a:r>
            <a:r>
              <a:rPr lang="fr-FR" dirty="0" smtClean="0">
                <a:solidFill>
                  <a:srgbClr val="5B6167"/>
                </a:solidFill>
                <a:hlinkClick r:id="rId6">
                  <a:extLst>
                    <a:ext uri="{A12FA001-AC4F-418D-AE19-62706E023703}">
                      <ahyp:hlinkClr xmlns="" xmlns:ahyp="http://schemas.microsoft.com/office/drawing/2018/hyperlinkcolor" xmlns:lc="http://schemas.openxmlformats.org/drawingml/2006/lockedCanvas" val="tx"/>
                    </a:ext>
                  </a:extLst>
                </a:hlinkClick>
              </a:rPr>
              <a:t>vignette</a:t>
            </a:r>
            <a:r>
              <a:rPr lang="fr-FR" dirty="0" smtClean="0">
                <a:solidFill>
                  <a:srgbClr val="5B6167"/>
                </a:solidFill>
              </a:rPr>
              <a:t> de </a:t>
            </a:r>
            <a:r>
              <a:rPr lang="fr-FR" dirty="0" err="1" smtClean="0">
                <a:solidFill>
                  <a:srgbClr val="5B6167"/>
                </a:solidFill>
              </a:rPr>
              <a:t>data.table</a:t>
            </a:r>
            <a:r>
              <a:rPr lang="fr-FR" dirty="0" smtClean="0">
                <a:solidFill>
                  <a:srgbClr val="5B6167"/>
                </a:solidFill>
              </a:rPr>
              <a:t> • </a:t>
            </a:r>
            <a:r>
              <a:rPr lang="fr-FR" dirty="0" err="1" smtClean="0">
                <a:solidFill>
                  <a:srgbClr val="5B6167"/>
                </a:solidFill>
              </a:rPr>
              <a:t>data.table</a:t>
            </a:r>
            <a:r>
              <a:rPr lang="fr-FR" dirty="0" smtClean="0">
                <a:solidFill>
                  <a:srgbClr val="5B6167"/>
                </a:solidFill>
              </a:rPr>
              <a:t> version 1.17.8 • Mise-à-jour: 2025-07 • traduction 2025-09</a:t>
            </a:r>
            <a:endParaRPr lang="fr-FR" dirty="0">
              <a:solidFill>
                <a:srgbClr val="5B6167"/>
              </a:solidFill>
            </a:endParaRPr>
          </a:p>
        </p:txBody>
      </p:sp>
      <p:graphicFrame>
        <p:nvGraphicFramePr>
          <p:cNvPr id="9" name="Table">
            <a:extLst>
              <a:ext uri="{FF2B5EF4-FFF2-40B4-BE49-F238E27FC236}">
                <a16:creationId xmlns:a16="http://schemas.microsoft.com/office/drawing/2014/main" xmlns="" id="{080CFDFB-FD7F-AB81-1978-883C3AD84E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388388516"/>
              </p:ext>
            </p:extLst>
          </p:nvPr>
        </p:nvGraphicFramePr>
        <p:xfrm>
          <a:off x="4808108" y="4196311"/>
          <a:ext cx="619200" cy="7620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80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15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es-ES" dirty="0">
                          <a:solidFill>
                            <a:srgbClr val="212121"/>
                          </a:solidFill>
                        </a:rPr>
                        <a:t>x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es-ES" dirty="0">
                          <a:solidFill>
                            <a:srgbClr val="212121"/>
                          </a:solidFill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es-ES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z</a:t>
                      </a: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es-ES" b="0" dirty="0">
                          <a:solidFill>
                            <a:srgbClr val="000000"/>
                          </a:solidFill>
                        </a:rPr>
                        <a:t>z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806896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C0DCC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4932</TotalTime>
  <Words>1720</Words>
  <Application>Microsoft Office PowerPoint</Application>
  <PresentationFormat>Personnalisé</PresentationFormat>
  <Paragraphs>484</Paragraphs>
  <Slides>2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White</vt:lpstr>
      <vt:lpstr>Transformer les données avec data.table : : COMPENDIUM </vt:lpstr>
      <vt:lpstr>Diapositive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</dc:title>
  <dc:creator>Erik Petrovski</dc:creator>
  <cp:lastModifiedBy>CWI</cp:lastModifiedBy>
  <cp:revision>867</cp:revision>
  <cp:lastPrinted>2024-03-11T15:36:50Z</cp:lastPrinted>
  <dcterms:modified xsi:type="dcterms:W3CDTF">2025-09-13T12:50:22Z</dcterms:modified>
</cp:coreProperties>
</file>